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70" r:id="rId3"/>
    <p:sldId id="290" r:id="rId4"/>
    <p:sldId id="291" r:id="rId5"/>
    <p:sldId id="292" r:id="rId6"/>
    <p:sldId id="283" r:id="rId7"/>
    <p:sldId id="285" r:id="rId8"/>
    <p:sldId id="287" r:id="rId9"/>
    <p:sldId id="284" r:id="rId10"/>
    <p:sldId id="288" r:id="rId11"/>
    <p:sldId id="286" r:id="rId12"/>
    <p:sldId id="279" r:id="rId13"/>
    <p:sldId id="295" r:id="rId14"/>
    <p:sldId id="280" r:id="rId15"/>
    <p:sldId id="281" r:id="rId16"/>
    <p:sldId id="297" r:id="rId17"/>
    <p:sldId id="296" r:id="rId1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309" autoAdjust="0"/>
  </p:normalViewPr>
  <p:slideViewPr>
    <p:cSldViewPr>
      <p:cViewPr varScale="1">
        <p:scale>
          <a:sx n="78" d="100"/>
          <a:sy n="78" d="100"/>
        </p:scale>
        <p:origin x="1480"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688A61-480A-4D28-A8DC-25E9E7CAA1AC}" type="datetimeFigureOut">
              <a:rPr lang="zh-CN" altLang="en-US" smtClean="0"/>
              <a:t>2025/12/5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3528B-61A4-48FC-A1C0-AF40F4AC824D}" type="slidenum">
              <a:rPr lang="zh-CN" altLang="en-US" smtClean="0"/>
              <a:t>‹#›</a:t>
            </a:fld>
            <a:endParaRPr lang="zh-CN" altLang="en-US"/>
          </a:p>
        </p:txBody>
      </p:sp>
    </p:spTree>
    <p:extLst>
      <p:ext uri="{BB962C8B-B14F-4D97-AF65-F5344CB8AC3E}">
        <p14:creationId xmlns:p14="http://schemas.microsoft.com/office/powerpoint/2010/main" val="174843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2</a:t>
            </a:fld>
            <a:endParaRPr lang="zh-CN" altLang="en-US"/>
          </a:p>
        </p:txBody>
      </p:sp>
    </p:spTree>
    <p:extLst>
      <p:ext uri="{BB962C8B-B14F-4D97-AF65-F5344CB8AC3E}">
        <p14:creationId xmlns:p14="http://schemas.microsoft.com/office/powerpoint/2010/main" val="1281238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4</a:t>
            </a:fld>
            <a:endParaRPr lang="zh-CN" altLang="en-US"/>
          </a:p>
        </p:txBody>
      </p:sp>
    </p:spTree>
    <p:extLst>
      <p:ext uri="{BB962C8B-B14F-4D97-AF65-F5344CB8AC3E}">
        <p14:creationId xmlns:p14="http://schemas.microsoft.com/office/powerpoint/2010/main" val="1886780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5</a:t>
            </a:fld>
            <a:endParaRPr lang="zh-CN" altLang="en-US"/>
          </a:p>
        </p:txBody>
      </p:sp>
    </p:spTree>
    <p:extLst>
      <p:ext uri="{BB962C8B-B14F-4D97-AF65-F5344CB8AC3E}">
        <p14:creationId xmlns:p14="http://schemas.microsoft.com/office/powerpoint/2010/main" val="2048101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6</a:t>
            </a:fld>
            <a:endParaRPr lang="zh-CN" altLang="en-US"/>
          </a:p>
        </p:txBody>
      </p:sp>
    </p:spTree>
    <p:extLst>
      <p:ext uri="{BB962C8B-B14F-4D97-AF65-F5344CB8AC3E}">
        <p14:creationId xmlns:p14="http://schemas.microsoft.com/office/powerpoint/2010/main" val="2301109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D0</a:t>
            </a:r>
            <a:r>
              <a:rPr lang="zh-CN" altLang="en-US" dirty="0"/>
              <a:t>为近地参考距离，</a:t>
            </a:r>
            <a:r>
              <a:rPr lang="zh-CN" altLang="en-US" b="0" i="0" dirty="0">
                <a:solidFill>
                  <a:srgbClr val="333333"/>
                </a:solidFill>
                <a:effectLst/>
                <a:latin typeface="PingFang SC"/>
              </a:rPr>
              <a:t>发射天线远场区的参考距离，由测试决定，与小区大小有关，半径大的小区一般取</a:t>
            </a:r>
            <a:r>
              <a:rPr lang="en-US" altLang="zh-CN" b="0" i="0" dirty="0">
                <a:solidFill>
                  <a:srgbClr val="333333"/>
                </a:solidFill>
                <a:effectLst/>
                <a:latin typeface="PingFang SC"/>
              </a:rPr>
              <a:t>1000m</a:t>
            </a:r>
            <a:r>
              <a:rPr lang="zh-CN" altLang="en-US" b="0" i="0" dirty="0">
                <a:solidFill>
                  <a:srgbClr val="333333"/>
                </a:solidFill>
                <a:effectLst/>
                <a:latin typeface="PingFang SC"/>
              </a:rPr>
              <a:t>，微型小区</a:t>
            </a:r>
            <a:r>
              <a:rPr lang="en-US" altLang="zh-CN" b="0" i="0" dirty="0">
                <a:solidFill>
                  <a:srgbClr val="333333"/>
                </a:solidFill>
                <a:effectLst/>
                <a:latin typeface="PingFang SC"/>
              </a:rPr>
              <a:t>100m</a:t>
            </a:r>
            <a:r>
              <a:rPr lang="zh-CN" altLang="en-US" b="0" i="0" dirty="0">
                <a:solidFill>
                  <a:srgbClr val="333333"/>
                </a:solidFill>
                <a:effectLst/>
                <a:latin typeface="PingFang SC"/>
              </a:rPr>
              <a:t>，室内</a:t>
            </a:r>
            <a:r>
              <a:rPr lang="en-US" altLang="zh-CN" b="0" i="0" dirty="0">
                <a:solidFill>
                  <a:srgbClr val="333333"/>
                </a:solidFill>
                <a:effectLst/>
                <a:latin typeface="PingFang SC"/>
              </a:rPr>
              <a:t>1m</a:t>
            </a:r>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7</a:t>
            </a:fld>
            <a:endParaRPr lang="zh-CN" altLang="en-US"/>
          </a:p>
        </p:txBody>
      </p:sp>
    </p:spTree>
    <p:extLst>
      <p:ext uri="{BB962C8B-B14F-4D97-AF65-F5344CB8AC3E}">
        <p14:creationId xmlns:p14="http://schemas.microsoft.com/office/powerpoint/2010/main" val="3860206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各种模型的参考意义：</a:t>
            </a:r>
            <a:r>
              <a:rPr lang="en-US" altLang="zh-CN" dirty="0"/>
              <a:t>f</a:t>
            </a:r>
            <a:r>
              <a:rPr lang="zh-CN" altLang="en-US" dirty="0"/>
              <a:t>越大，损耗越大；接收越高，损耗越小；爱格利模型；奥村</a:t>
            </a:r>
            <a:r>
              <a:rPr lang="en-US" altLang="zh-CN" dirty="0"/>
              <a:t>-</a:t>
            </a:r>
            <a:r>
              <a:rPr lang="zh-CN" altLang="en-US" dirty="0"/>
              <a:t>哈他模型</a:t>
            </a:r>
          </a:p>
        </p:txBody>
      </p:sp>
      <p:sp>
        <p:nvSpPr>
          <p:cNvPr id="4" name="灯片编号占位符 3"/>
          <p:cNvSpPr>
            <a:spLocks noGrp="1"/>
          </p:cNvSpPr>
          <p:nvPr>
            <p:ph type="sldNum" sz="quarter" idx="5"/>
          </p:nvPr>
        </p:nvSpPr>
        <p:spPr/>
        <p:txBody>
          <a:bodyPr/>
          <a:lstStyle/>
          <a:p>
            <a:fld id="{BB63528B-61A4-48FC-A1C0-AF40F4AC824D}" type="slidenum">
              <a:rPr lang="zh-CN" altLang="en-US" smtClean="0"/>
              <a:t>8</a:t>
            </a:fld>
            <a:endParaRPr lang="zh-CN" altLang="en-US"/>
          </a:p>
        </p:txBody>
      </p:sp>
    </p:spTree>
    <p:extLst>
      <p:ext uri="{BB962C8B-B14F-4D97-AF65-F5344CB8AC3E}">
        <p14:creationId xmlns:p14="http://schemas.microsoft.com/office/powerpoint/2010/main" val="1564737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63528B-61A4-48FC-A1C0-AF40F4AC824D}" type="slidenum">
              <a:rPr lang="zh-CN" altLang="en-US" smtClean="0"/>
              <a:t>12</a:t>
            </a:fld>
            <a:endParaRPr lang="zh-CN" altLang="en-US"/>
          </a:p>
        </p:txBody>
      </p:sp>
    </p:spTree>
    <p:extLst>
      <p:ext uri="{BB962C8B-B14F-4D97-AF65-F5344CB8AC3E}">
        <p14:creationId xmlns:p14="http://schemas.microsoft.com/office/powerpoint/2010/main" val="350228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17CB7D-967D-48E1-A023-649F9D2E0EEF}"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pattFill prst="dotGrid">
          <a:fgClr>
            <a:schemeClr val="bg1">
              <a:lumMod val="85000"/>
            </a:schemeClr>
          </a:fgClr>
          <a:bgClr>
            <a:srgbClr val="F5F0EA"/>
          </a:bgClr>
        </a:patt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幻灯片">
    <p:bg>
      <p:bgPr>
        <a:pattFill prst="dotGrid">
          <a:fgClr>
            <a:schemeClr val="bg1">
              <a:lumMod val="85000"/>
            </a:schemeClr>
          </a:fgClr>
          <a:bgClr>
            <a:srgbClr val="F5F0EA"/>
          </a:bgClr>
        </a:pattFill>
        <a:effectLst/>
      </p:bgPr>
    </p:bg>
    <p:spTree>
      <p:nvGrpSpPr>
        <p:cNvPr id="1" name=""/>
        <p:cNvGrpSpPr/>
        <p:nvPr/>
      </p:nvGrpSpPr>
      <p:grpSpPr>
        <a:xfrm>
          <a:off x="0" y="0"/>
          <a:ext cx="0" cy="0"/>
          <a:chOff x="0" y="0"/>
          <a:chExt cx="0" cy="0"/>
        </a:xfrm>
      </p:grpSpPr>
      <p:sp>
        <p:nvSpPr>
          <p:cNvPr id="2" name="矩形 1"/>
          <p:cNvSpPr/>
          <p:nvPr userDrawn="1"/>
        </p:nvSpPr>
        <p:spPr>
          <a:xfrm>
            <a:off x="114300" y="139700"/>
            <a:ext cx="8905875" cy="6591300"/>
          </a:xfrm>
          <a:prstGeom prst="rect">
            <a:avLst/>
          </a:prstGeom>
          <a:noFill/>
          <a:ln w="38100">
            <a:solidFill>
              <a:srgbClr val="5D91A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486CE5-FBD3-4E38-9FE2-72751932D7C0}" type="datetimeFigureOut">
              <a:rPr lang="zh-CN" altLang="en-US" smtClean="0"/>
              <a:pPr/>
              <a:t>2025/12/5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17CB7D-967D-48E1-A023-649F9D2E0EEF}"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cstate="print">
            <a:extLst>
              <a:ext uri="{BEBA8EAE-BF5A-486C-A8C5-ECC9F3942E4B}">
                <a14:imgProps xmlns:a14="http://schemas.microsoft.com/office/drawing/2010/main">
                  <a14:imgLayer r:embed="rId3">
                    <a14:imgEffect>
                      <a14:artisticTexturizer scaling="0"/>
                    </a14:imgEffect>
                  </a14:imgLayer>
                </a14:imgProps>
              </a:ext>
            </a:extLst>
          </a:blip>
          <a:stretch>
            <a:fillRect/>
          </a:stretch>
        </p:blipFill>
        <p:spPr>
          <a:xfrm>
            <a:off x="-476" y="5256646"/>
            <a:ext cx="9144793" cy="1591194"/>
          </a:xfrm>
          <a:prstGeom prst="rect">
            <a:avLst/>
          </a:prstGeom>
        </p:spPr>
      </p:pic>
      <p:pic>
        <p:nvPicPr>
          <p:cNvPr id="26" name="图片 25"/>
          <p:cNvPicPr>
            <a:picLocks noChangeAspect="1"/>
          </p:cNvPicPr>
          <p:nvPr/>
        </p:nvPicPr>
        <p:blipFill>
          <a:blip r:embed="rId4" cstate="print">
            <a:extLst>
              <a:ext uri="{BEBA8EAE-BF5A-486C-A8C5-ECC9F3942E4B}">
                <a14:imgProps xmlns:a14="http://schemas.microsoft.com/office/drawing/2010/main">
                  <a14:imgLayer r:embed="rId5">
                    <a14:imgEffect>
                      <a14:artisticTexturizer scaling="0"/>
                    </a14:imgEffect>
                  </a14:imgLayer>
                </a14:imgProps>
              </a:ext>
            </a:extLst>
          </a:blip>
          <a:stretch>
            <a:fillRect/>
          </a:stretch>
        </p:blipFill>
        <p:spPr>
          <a:xfrm>
            <a:off x="797659" y="910683"/>
            <a:ext cx="7548683" cy="1150770"/>
          </a:xfrm>
          <a:prstGeom prst="rect">
            <a:avLst/>
          </a:prstGeom>
        </p:spPr>
      </p:pic>
      <p:sp>
        <p:nvSpPr>
          <p:cNvPr id="30" name="任意多边形 29"/>
          <p:cNvSpPr/>
          <p:nvPr/>
        </p:nvSpPr>
        <p:spPr>
          <a:xfrm>
            <a:off x="94034" y="5499101"/>
            <a:ext cx="8955932" cy="1259002"/>
          </a:xfrm>
          <a:custGeom>
            <a:avLst/>
            <a:gdLst>
              <a:gd name="connsiteX0" fmla="*/ 6096000 w 12192000"/>
              <a:gd name="connsiteY0" fmla="*/ 0 h 1591193"/>
              <a:gd name="connsiteX1" fmla="*/ 6410502 w 12192000"/>
              <a:gd name="connsiteY1" fmla="*/ 322781 h 1591193"/>
              <a:gd name="connsiteX2" fmla="*/ 12192000 w 12192000"/>
              <a:gd name="connsiteY2" fmla="*/ 322781 h 1591193"/>
              <a:gd name="connsiteX3" fmla="*/ 12192000 w 12192000"/>
              <a:gd name="connsiteY3" fmla="*/ 1591193 h 1591193"/>
              <a:gd name="connsiteX4" fmla="*/ 0 w 12192000"/>
              <a:gd name="connsiteY4" fmla="*/ 1591193 h 1591193"/>
              <a:gd name="connsiteX5" fmla="*/ 0 w 12192000"/>
              <a:gd name="connsiteY5" fmla="*/ 322781 h 1591193"/>
              <a:gd name="connsiteX6" fmla="*/ 5781498 w 12192000"/>
              <a:gd name="connsiteY6" fmla="*/ 322781 h 159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591193">
                <a:moveTo>
                  <a:pt x="6096000" y="0"/>
                </a:moveTo>
                <a:lnTo>
                  <a:pt x="6410502" y="322781"/>
                </a:lnTo>
                <a:lnTo>
                  <a:pt x="12192000" y="322781"/>
                </a:lnTo>
                <a:lnTo>
                  <a:pt x="12192000" y="1591193"/>
                </a:lnTo>
                <a:lnTo>
                  <a:pt x="0" y="1591193"/>
                </a:lnTo>
                <a:lnTo>
                  <a:pt x="0" y="322781"/>
                </a:lnTo>
                <a:lnTo>
                  <a:pt x="5781498" y="322781"/>
                </a:lnTo>
                <a:close/>
              </a:path>
            </a:pathLst>
          </a:custGeom>
          <a:noFill/>
          <a:ln w="19050">
            <a:solidFill>
              <a:srgbClr val="F5F0E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矩形 32"/>
          <p:cNvSpPr/>
          <p:nvPr/>
        </p:nvSpPr>
        <p:spPr>
          <a:xfrm>
            <a:off x="1748790" y="1044140"/>
            <a:ext cx="6430377" cy="523220"/>
          </a:xfrm>
          <a:prstGeom prst="rect">
            <a:avLst/>
          </a:prstGeom>
        </p:spPr>
        <p:txBody>
          <a:bodyPr wrap="square">
            <a:spAutoFit/>
          </a:bodyPr>
          <a:lstStyle/>
          <a:p>
            <a:r>
              <a:rPr lang="zh-CN" altLang="en-US" sz="2800" b="1" dirty="0">
                <a:solidFill>
                  <a:schemeClr val="bg1"/>
                </a:solidFill>
              </a:rPr>
              <a:t>北京邮电大学信息与通信工程学院</a:t>
            </a:r>
          </a:p>
        </p:txBody>
      </p:sp>
      <p:sp>
        <p:nvSpPr>
          <p:cNvPr id="34" name="矩形 33"/>
          <p:cNvSpPr/>
          <p:nvPr/>
        </p:nvSpPr>
        <p:spPr>
          <a:xfrm>
            <a:off x="1842015" y="2105282"/>
            <a:ext cx="5766322" cy="1107996"/>
          </a:xfrm>
          <a:prstGeom prst="rect">
            <a:avLst/>
          </a:prstGeom>
        </p:spPr>
        <p:txBody>
          <a:bodyPr wrap="none">
            <a:spAutoFit/>
          </a:bodyPr>
          <a:lstStyle/>
          <a:p>
            <a:pPr algn="l"/>
            <a:r>
              <a:rPr kumimoji="1" lang="en-US" altLang="zh-CN" sz="6600" b="1" dirty="0">
                <a:solidFill>
                  <a:srgbClr val="777671"/>
                </a:solidFill>
                <a:latin typeface="微软雅黑" panose="020B0503020204020204" charset="-122"/>
                <a:ea typeface="微软雅黑" panose="020B0503020204020204" charset="-122"/>
                <a:cs typeface="微软雅黑" panose="020B0503020204020204" charset="-122"/>
              </a:rPr>
              <a:t>  </a:t>
            </a:r>
            <a:r>
              <a:rPr kumimoji="1" lang="zh-CN" altLang="en-US" sz="6600" b="1" dirty="0">
                <a:solidFill>
                  <a:srgbClr val="777671"/>
                </a:solidFill>
                <a:latin typeface="微软雅黑" panose="020B0503020204020204" charset="-122"/>
                <a:ea typeface="微软雅黑" panose="020B0503020204020204" charset="-122"/>
                <a:cs typeface="微软雅黑" panose="020B0503020204020204" charset="-122"/>
              </a:rPr>
              <a:t>电磁场实验五</a:t>
            </a:r>
            <a:endParaRPr kumimoji="1" lang="en-US" altLang="zh-CN" sz="6600" b="1" dirty="0">
              <a:solidFill>
                <a:srgbClr val="777671"/>
              </a:solidFill>
              <a:latin typeface="微软雅黑" panose="020B0503020204020204" charset="-122"/>
              <a:ea typeface="微软雅黑" panose="020B0503020204020204" charset="-122"/>
              <a:cs typeface="微软雅黑" panose="020B0503020204020204" charset="-122"/>
            </a:endParaRPr>
          </a:p>
        </p:txBody>
      </p:sp>
      <p:grpSp>
        <p:nvGrpSpPr>
          <p:cNvPr id="2" name="组合 82"/>
          <p:cNvGrpSpPr/>
          <p:nvPr/>
        </p:nvGrpSpPr>
        <p:grpSpPr>
          <a:xfrm>
            <a:off x="1323136" y="4365104"/>
            <a:ext cx="6472279" cy="369332"/>
            <a:chOff x="1764181" y="3942834"/>
            <a:chExt cx="8629705" cy="369332"/>
          </a:xfrm>
        </p:grpSpPr>
        <p:cxnSp>
          <p:nvCxnSpPr>
            <p:cNvPr id="80" name="直接连接符 79"/>
            <p:cNvCxnSpPr/>
            <p:nvPr/>
          </p:nvCxnSpPr>
          <p:spPr>
            <a:xfrm>
              <a:off x="1764181" y="4127500"/>
              <a:ext cx="2755900" cy="0"/>
            </a:xfrm>
            <a:prstGeom prst="line">
              <a:avLst/>
            </a:prstGeom>
            <a:ln>
              <a:solidFill>
                <a:srgbClr val="77767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7637986" y="4127500"/>
              <a:ext cx="2755900" cy="0"/>
            </a:xfrm>
            <a:prstGeom prst="line">
              <a:avLst/>
            </a:prstGeom>
            <a:ln>
              <a:solidFill>
                <a:srgbClr val="777671"/>
              </a:solidFill>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5955882" y="3942834"/>
              <a:ext cx="246307" cy="369332"/>
            </a:xfrm>
            <a:prstGeom prst="rect">
              <a:avLst/>
            </a:prstGeom>
          </p:spPr>
          <p:txBody>
            <a:bodyPr wrap="none">
              <a:spAutoFit/>
            </a:bodyPr>
            <a:lstStyle/>
            <a:p>
              <a:pPr algn="ctr"/>
              <a:endParaRPr kumimoji="1" lang="zh-CN" altLang="en-US" dirty="0">
                <a:solidFill>
                  <a:srgbClr val="777671"/>
                </a:solidFill>
                <a:latin typeface="微软雅黑" panose="020B0503020204020204" charset="-122"/>
                <a:ea typeface="微软雅黑" panose="020B0503020204020204" charset="-122"/>
              </a:endParaRPr>
            </a:p>
          </p:txBody>
        </p:sp>
      </p:grpSp>
      <p:sp>
        <p:nvSpPr>
          <p:cNvPr id="12" name="矩形 11"/>
          <p:cNvSpPr/>
          <p:nvPr/>
        </p:nvSpPr>
        <p:spPr>
          <a:xfrm>
            <a:off x="6097973" y="51505"/>
            <a:ext cx="3046027" cy="76944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仅内部参考</a:t>
            </a:r>
            <a:endParaRPr lang="zh-CN" altLang="en-U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DD90CD6-7A5F-1FE0-16EC-3AFC0D6394BF}"/>
              </a:ext>
            </a:extLst>
          </p:cNvPr>
          <p:cNvGrpSpPr/>
          <p:nvPr/>
        </p:nvGrpSpPr>
        <p:grpSpPr>
          <a:xfrm>
            <a:off x="251520" y="783771"/>
            <a:ext cx="8521095" cy="5757418"/>
            <a:chOff x="768859" y="579121"/>
            <a:chExt cx="10654282" cy="5791200"/>
          </a:xfrm>
        </p:grpSpPr>
        <p:sp>
          <p:nvSpPr>
            <p:cNvPr id="3" name="矩形 2">
              <a:extLst>
                <a:ext uri="{FF2B5EF4-FFF2-40B4-BE49-F238E27FC236}">
                  <a16:creationId xmlns:a16="http://schemas.microsoft.com/office/drawing/2014/main" id="{5712B12E-CEAD-EC36-69BB-9831709B49B8}"/>
                </a:ext>
              </a:extLst>
            </p:cNvPr>
            <p:cNvSpPr/>
            <p:nvPr/>
          </p:nvSpPr>
          <p:spPr>
            <a:xfrm>
              <a:off x="768859" y="579121"/>
              <a:ext cx="10654282" cy="5791200"/>
            </a:xfrm>
            <a:prstGeom prst="rect">
              <a:avLst/>
            </a:prstGeom>
            <a:solidFill>
              <a:srgbClr val="FFFFFF"/>
            </a:solidFill>
            <a:ln>
              <a:noFill/>
            </a:ln>
            <a:effectLst>
              <a:outerShdw blurRad="2667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2" descr="G:\PPT素材库\B素材\简约大气绚丽深紫色渐变背景\C背景图\3a87e52a5b1559cc07cb90ee33d06a12.png">
              <a:extLst>
                <a:ext uri="{FF2B5EF4-FFF2-40B4-BE49-F238E27FC236}">
                  <a16:creationId xmlns:a16="http://schemas.microsoft.com/office/drawing/2014/main" id="{171090E3-6BF7-9B42-3FBE-E555FEA681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V="1">
              <a:off x="9967404" y="4814652"/>
              <a:ext cx="1455737" cy="1555666"/>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五边形 10"/>
          <p:cNvSpPr/>
          <p:nvPr/>
        </p:nvSpPr>
        <p:spPr>
          <a:xfrm rot="5400000">
            <a:off x="291113" y="2821880"/>
            <a:ext cx="891720" cy="440872"/>
          </a:xfrm>
          <a:prstGeom prst="homePlate">
            <a:avLst/>
          </a:prstGeom>
          <a:solidFill>
            <a:srgbClr val="79A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五边形 5"/>
          <p:cNvSpPr/>
          <p:nvPr/>
        </p:nvSpPr>
        <p:spPr>
          <a:xfrm rot="5400000">
            <a:off x="291113" y="1308603"/>
            <a:ext cx="891720" cy="440872"/>
          </a:xfrm>
          <a:prstGeom prst="homePlate">
            <a:avLst/>
          </a:prstGeom>
          <a:solidFill>
            <a:srgbClr val="79A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456060" y="980728"/>
            <a:ext cx="574196" cy="1015663"/>
          </a:xfrm>
          <a:prstGeom prst="rect">
            <a:avLst/>
          </a:prstGeom>
          <a:noFill/>
        </p:spPr>
        <p:txBody>
          <a:bodyPr wrap="none" rtlCol="0">
            <a:spAutoFit/>
          </a:bodyPr>
          <a:lstStyle/>
          <a:p>
            <a:r>
              <a:rPr lang="en-US" altLang="zh-CN" sz="6000" b="1" dirty="0">
                <a:solidFill>
                  <a:schemeClr val="bg1"/>
                </a:solidFill>
                <a:effectLst>
                  <a:outerShdw blurRad="38100" dist="38100" dir="2700000" algn="tl">
                    <a:srgbClr val="000000">
                      <a:alpha val="43137"/>
                    </a:srgbClr>
                  </a:outerShdw>
                </a:effectLst>
                <a:ea typeface="+mj-ea"/>
              </a:rPr>
              <a:t>1</a:t>
            </a:r>
            <a:endParaRPr lang="zh-CN" altLang="en-US" sz="6000" b="1" dirty="0">
              <a:solidFill>
                <a:schemeClr val="bg1"/>
              </a:solidFill>
              <a:effectLst>
                <a:outerShdw blurRad="38100" dist="38100" dir="2700000" algn="tl">
                  <a:srgbClr val="000000">
                    <a:alpha val="43137"/>
                  </a:srgbClr>
                </a:outerShdw>
              </a:effectLst>
              <a:ea typeface="+mj-ea"/>
            </a:endParaRPr>
          </a:p>
        </p:txBody>
      </p:sp>
      <p:sp>
        <p:nvSpPr>
          <p:cNvPr id="7" name="文本框 3"/>
          <p:cNvSpPr txBox="1"/>
          <p:nvPr/>
        </p:nvSpPr>
        <p:spPr>
          <a:xfrm>
            <a:off x="467544" y="2413337"/>
            <a:ext cx="574196" cy="1015663"/>
          </a:xfrm>
          <a:prstGeom prst="rect">
            <a:avLst/>
          </a:prstGeom>
          <a:noFill/>
        </p:spPr>
        <p:txBody>
          <a:bodyPr wrap="none" rtlCol="0">
            <a:spAutoFit/>
          </a:bodyPr>
          <a:lstStyle/>
          <a:p>
            <a:r>
              <a:rPr lang="en-US" altLang="zh-CN" sz="6000" b="1" dirty="0">
                <a:solidFill>
                  <a:schemeClr val="bg1"/>
                </a:solidFill>
                <a:effectLst>
                  <a:outerShdw blurRad="38100" dist="38100" dir="2700000" algn="tl">
                    <a:srgbClr val="000000">
                      <a:alpha val="43137"/>
                    </a:srgbClr>
                  </a:outerShdw>
                </a:effectLst>
                <a:ea typeface="+mj-ea"/>
              </a:rPr>
              <a:t>2</a:t>
            </a:r>
            <a:endParaRPr lang="zh-CN" altLang="en-US" sz="6000" b="1" dirty="0">
              <a:solidFill>
                <a:schemeClr val="bg1"/>
              </a:solidFill>
              <a:effectLst>
                <a:outerShdw blurRad="38100" dist="38100" dir="2700000" algn="tl">
                  <a:srgbClr val="000000">
                    <a:alpha val="43137"/>
                  </a:srgbClr>
                </a:outerShdw>
              </a:effectLst>
              <a:ea typeface="+mj-ea"/>
            </a:endParaRPr>
          </a:p>
        </p:txBody>
      </p:sp>
      <p:sp>
        <p:nvSpPr>
          <p:cNvPr id="9" name="Synergistically utilize technically sound portals with frictionless chains. Dramatically customize…">
            <a:extLst>
              <a:ext uri="{FF2B5EF4-FFF2-40B4-BE49-F238E27FC236}">
                <a16:creationId xmlns:a16="http://schemas.microsoft.com/office/drawing/2014/main" id="{B331F252-0F91-1E6E-B85B-B32A483E5568}"/>
              </a:ext>
            </a:extLst>
          </p:cNvPr>
          <p:cNvSpPr txBox="1"/>
          <p:nvPr/>
        </p:nvSpPr>
        <p:spPr>
          <a:xfrm>
            <a:off x="-837032" y="1313072"/>
            <a:ext cx="1890319" cy="214272"/>
          </a:xfrm>
          <a:prstGeom prst="rect">
            <a:avLst/>
          </a:prstGeom>
          <a:ln w="12700">
            <a:miter lim="400000"/>
          </a:ln>
        </p:spPr>
        <p:txBody>
          <a:bodyPr wrap="square" lIns="0" tIns="0" rIns="0" bIns="0">
            <a:spAutoFit/>
          </a:bodyPr>
          <a:lstStyle/>
          <a:p>
            <a:endParaRPr lang="zh-CN" altLang="zh-CN" dirty="0">
              <a:solidFill>
                <a:schemeClr val="tx2"/>
              </a:solidFill>
            </a:endParaRPr>
          </a:p>
        </p:txBody>
      </p:sp>
      <p:sp>
        <p:nvSpPr>
          <p:cNvPr id="18" name="矩形 17">
            <a:extLst>
              <a:ext uri="{FF2B5EF4-FFF2-40B4-BE49-F238E27FC236}">
                <a16:creationId xmlns:a16="http://schemas.microsoft.com/office/drawing/2014/main" id="{DDE58DE2-212B-BA90-84B3-E9A33503AFDF}"/>
              </a:ext>
            </a:extLst>
          </p:cNvPr>
          <p:cNvSpPr/>
          <p:nvPr/>
        </p:nvSpPr>
        <p:spPr>
          <a:xfrm>
            <a:off x="251520" y="227437"/>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实验课程背景</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电磁场实验</a:t>
            </a:r>
            <a:r>
              <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课程；</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矩形 18">
            <a:extLst>
              <a:ext uri="{FF2B5EF4-FFF2-40B4-BE49-F238E27FC236}">
                <a16:creationId xmlns:a16="http://schemas.microsoft.com/office/drawing/2014/main" id="{B1D33D67-8127-D109-4E6B-221119BD6A3D}"/>
              </a:ext>
            </a:extLst>
          </p:cNvPr>
          <p:cNvSpPr/>
          <p:nvPr/>
        </p:nvSpPr>
        <p:spPr>
          <a:xfrm>
            <a:off x="1222426" y="1398771"/>
            <a:ext cx="7550189" cy="875881"/>
          </a:xfrm>
          <a:prstGeom prst="rect">
            <a:avLst/>
          </a:prstGeom>
        </p:spPr>
        <p:txBody>
          <a:bodyPr wrap="square">
            <a:spAutoFit/>
          </a:bodyPr>
          <a:lstStyle/>
          <a:p>
            <a:pPr>
              <a:lnSpc>
                <a:spcPct val="150000"/>
              </a:lnSpc>
            </a:pPr>
            <a:r>
              <a:rPr lang="en-US" altLang="zh-CN" dirty="0">
                <a:latin typeface="+mn-ea"/>
              </a:rPr>
              <a:t>《</a:t>
            </a:r>
            <a:r>
              <a:rPr lang="zh-CN" altLang="en-US" dirty="0">
                <a:latin typeface="+mn-ea"/>
              </a:rPr>
              <a:t>电磁场实验</a:t>
            </a:r>
            <a:r>
              <a:rPr lang="en-US" altLang="zh-CN" dirty="0">
                <a:latin typeface="+mn-ea"/>
              </a:rPr>
              <a:t>》</a:t>
            </a:r>
            <a:r>
              <a:rPr lang="zh-CN" altLang="en-US" dirty="0">
                <a:latin typeface="+mn-ea"/>
              </a:rPr>
              <a:t>是信息与通信工程学院的电子信息类（信息通信）的重要专业基础课程；</a:t>
            </a:r>
            <a:r>
              <a:rPr lang="zh-CN" altLang="en-US" dirty="0"/>
              <a:t>适用专业：通信工程、电子信息工程、英才班、双培班；</a:t>
            </a:r>
          </a:p>
        </p:txBody>
      </p:sp>
      <p:sp>
        <p:nvSpPr>
          <p:cNvPr id="20" name="文本框 19">
            <a:extLst>
              <a:ext uri="{FF2B5EF4-FFF2-40B4-BE49-F238E27FC236}">
                <a16:creationId xmlns:a16="http://schemas.microsoft.com/office/drawing/2014/main" id="{A7C43A38-580F-9376-1465-A701C7341B96}"/>
              </a:ext>
            </a:extLst>
          </p:cNvPr>
          <p:cNvSpPr txBox="1"/>
          <p:nvPr/>
        </p:nvSpPr>
        <p:spPr>
          <a:xfrm>
            <a:off x="1132125" y="985113"/>
            <a:ext cx="5427856" cy="369332"/>
          </a:xfrm>
          <a:prstGeom prst="rect">
            <a:avLst/>
          </a:prstGeom>
          <a:noFill/>
        </p:spPr>
        <p:txBody>
          <a:bodyPr wrap="square">
            <a:spAutoFit/>
          </a:bodyPr>
          <a:lstStyle/>
          <a:p>
            <a:r>
              <a:rPr lang="zh-CN" altLang="en-US" sz="18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基本信息：</a:t>
            </a:r>
            <a:endParaRPr lang="zh-CN" altLang="en-US" dirty="0"/>
          </a:p>
        </p:txBody>
      </p:sp>
      <p:sp>
        <p:nvSpPr>
          <p:cNvPr id="21" name="文本框 20">
            <a:extLst>
              <a:ext uri="{FF2B5EF4-FFF2-40B4-BE49-F238E27FC236}">
                <a16:creationId xmlns:a16="http://schemas.microsoft.com/office/drawing/2014/main" id="{E08BB370-8393-B77B-2602-A9730BFE99AC}"/>
              </a:ext>
            </a:extLst>
          </p:cNvPr>
          <p:cNvSpPr txBox="1"/>
          <p:nvPr/>
        </p:nvSpPr>
        <p:spPr>
          <a:xfrm>
            <a:off x="1222426" y="2524151"/>
            <a:ext cx="5427856" cy="369332"/>
          </a:xfrm>
          <a:prstGeom prst="rect">
            <a:avLst/>
          </a:prstGeom>
          <a:noFill/>
        </p:spPr>
        <p:txBody>
          <a:bodyPr wrap="square">
            <a:spAutoFit/>
          </a:bodyPr>
          <a:lstStyle/>
          <a:p>
            <a:r>
              <a:rPr lang="zh-CN" altLang="en-US" sz="18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课程目标：</a:t>
            </a:r>
            <a:endParaRPr lang="zh-CN" altLang="en-US" dirty="0"/>
          </a:p>
        </p:txBody>
      </p:sp>
      <p:sp>
        <p:nvSpPr>
          <p:cNvPr id="23" name="文本框 22">
            <a:extLst>
              <a:ext uri="{FF2B5EF4-FFF2-40B4-BE49-F238E27FC236}">
                <a16:creationId xmlns:a16="http://schemas.microsoft.com/office/drawing/2014/main" id="{26F88DC7-73FF-CCBA-8424-EBFFED2DF68C}"/>
              </a:ext>
            </a:extLst>
          </p:cNvPr>
          <p:cNvSpPr txBox="1"/>
          <p:nvPr/>
        </p:nvSpPr>
        <p:spPr>
          <a:xfrm>
            <a:off x="762513" y="2936667"/>
            <a:ext cx="8010101" cy="3351367"/>
          </a:xfrm>
          <a:prstGeom prst="rect">
            <a:avLst/>
          </a:prstGeom>
          <a:noFill/>
        </p:spPr>
        <p:txBody>
          <a:bodyPr wrap="square">
            <a:spAutoFit/>
          </a:bodyPr>
          <a:lstStyle/>
          <a:p>
            <a:pPr indent="306070" algn="just">
              <a:lnSpc>
                <a:spcPct val="150000"/>
              </a:lnSpc>
            </a:pPr>
            <a:r>
              <a:rPr lang="zh-CN" altLang="zh-CN" sz="1800" b="1" dirty="0">
                <a:solidFill>
                  <a:srgbClr val="000000"/>
                </a:solidFill>
                <a:effectLst/>
                <a:latin typeface="+mn-ea"/>
                <a:cs typeface="宋体" panose="02010600030101010101" pitchFamily="2" charset="-122"/>
              </a:rPr>
              <a:t>目标</a:t>
            </a:r>
            <a:r>
              <a:rPr lang="en-US" altLang="zh-CN" sz="1800" b="1" dirty="0">
                <a:solidFill>
                  <a:srgbClr val="000000"/>
                </a:solidFill>
                <a:effectLst/>
                <a:latin typeface="+mn-ea"/>
                <a:cs typeface="Times New Roman" panose="02020603050405020304" pitchFamily="18" charset="0"/>
              </a:rPr>
              <a:t>1</a:t>
            </a:r>
            <a:r>
              <a:rPr lang="zh-CN" altLang="zh-CN" sz="1800" b="1" dirty="0">
                <a:solidFill>
                  <a:srgbClr val="000000"/>
                </a:solidFill>
                <a:effectLst/>
                <a:latin typeface="+mn-ea"/>
                <a:cs typeface="宋体" panose="02010600030101010101" pitchFamily="2" charset="-122"/>
              </a:rPr>
              <a:t>：</a:t>
            </a:r>
            <a:r>
              <a:rPr lang="zh-CN" altLang="zh-CN" sz="1800" dirty="0">
                <a:solidFill>
                  <a:srgbClr val="000000"/>
                </a:solidFill>
                <a:effectLst/>
                <a:latin typeface="+mn-ea"/>
                <a:cs typeface="宋体" panose="02010600030101010101" pitchFamily="2" charset="-122"/>
              </a:rPr>
              <a:t>通过实验加深对电磁场与电磁波中基本概念的理解，同时培养学生用场的观点和方法来分析、检测和解决电磁场与电磁波实际问题的能力</a:t>
            </a:r>
            <a:r>
              <a:rPr lang="zh-CN" altLang="en-US" sz="1800" dirty="0">
                <a:solidFill>
                  <a:srgbClr val="000000"/>
                </a:solidFill>
                <a:effectLst/>
                <a:latin typeface="+mn-ea"/>
                <a:cs typeface="宋体" panose="02010600030101010101" pitchFamily="2" charset="-122"/>
              </a:rPr>
              <a:t>；</a:t>
            </a:r>
            <a:endParaRPr lang="zh-CN" altLang="zh-CN" sz="1800" dirty="0">
              <a:effectLst/>
              <a:latin typeface="+mn-ea"/>
              <a:cs typeface="宋体" panose="02010600030101010101" pitchFamily="2" charset="-122"/>
            </a:endParaRPr>
          </a:p>
          <a:p>
            <a:pPr indent="306070" algn="just">
              <a:lnSpc>
                <a:spcPct val="150000"/>
              </a:lnSpc>
            </a:pPr>
            <a:r>
              <a:rPr lang="zh-CN" altLang="zh-CN" sz="1800" b="1" dirty="0">
                <a:effectLst/>
                <a:latin typeface="+mn-ea"/>
                <a:cs typeface="宋体" panose="02010600030101010101" pitchFamily="2" charset="-122"/>
              </a:rPr>
              <a:t>目标</a:t>
            </a:r>
            <a:r>
              <a:rPr lang="en-US" altLang="zh-CN" sz="1800" b="1" dirty="0">
                <a:effectLst/>
                <a:latin typeface="+mn-ea"/>
                <a:cs typeface="宋体" panose="02010600030101010101" pitchFamily="2" charset="-122"/>
              </a:rPr>
              <a:t>2</a:t>
            </a:r>
            <a:r>
              <a:rPr lang="zh-CN" altLang="zh-CN" sz="1800" b="1" dirty="0">
                <a:effectLst/>
                <a:latin typeface="+mn-ea"/>
                <a:cs typeface="宋体" panose="02010600030101010101" pitchFamily="2" charset="-122"/>
              </a:rPr>
              <a:t>：</a:t>
            </a:r>
            <a:r>
              <a:rPr lang="zh-CN" altLang="zh-CN" sz="1800" dirty="0">
                <a:effectLst/>
                <a:latin typeface="+mn-ea"/>
                <a:cs typeface="宋体" panose="02010600030101010101" pitchFamily="2" charset="-122"/>
              </a:rPr>
              <a:t>在微波频段的通信中，了解微波测量仪器仪表以及掌握相关测量方法和技术</a:t>
            </a:r>
            <a:r>
              <a:rPr lang="zh-CN" altLang="en-US" sz="1800" dirty="0">
                <a:effectLst/>
                <a:latin typeface="+mn-ea"/>
                <a:cs typeface="宋体" panose="02010600030101010101" pitchFamily="2" charset="-122"/>
              </a:rPr>
              <a:t>；</a:t>
            </a:r>
            <a:endParaRPr lang="zh-CN" altLang="zh-CN" sz="1800" dirty="0">
              <a:effectLst/>
              <a:latin typeface="+mn-ea"/>
              <a:cs typeface="宋体" panose="02010600030101010101" pitchFamily="2" charset="-122"/>
            </a:endParaRPr>
          </a:p>
          <a:p>
            <a:pPr indent="306070" algn="just">
              <a:lnSpc>
                <a:spcPct val="150000"/>
              </a:lnSpc>
            </a:pPr>
            <a:r>
              <a:rPr lang="zh-CN" altLang="zh-CN" sz="1800" b="1" dirty="0">
                <a:effectLst/>
                <a:latin typeface="+mn-ea"/>
                <a:cs typeface="宋体" panose="02010600030101010101" pitchFamily="2" charset="-122"/>
              </a:rPr>
              <a:t>目标</a:t>
            </a:r>
            <a:r>
              <a:rPr lang="en-US" altLang="zh-CN" sz="1800" b="1" dirty="0">
                <a:effectLst/>
                <a:latin typeface="+mn-ea"/>
                <a:cs typeface="宋体" panose="02010600030101010101" pitchFamily="2" charset="-122"/>
              </a:rPr>
              <a:t>3</a:t>
            </a:r>
            <a:r>
              <a:rPr lang="zh-CN" altLang="zh-CN" sz="1800" b="1" dirty="0">
                <a:effectLst/>
                <a:latin typeface="+mn-ea"/>
                <a:cs typeface="宋体" panose="02010600030101010101" pitchFamily="2" charset="-122"/>
              </a:rPr>
              <a:t>：</a:t>
            </a:r>
            <a:r>
              <a:rPr lang="zh-CN" altLang="zh-CN" sz="1800" dirty="0">
                <a:effectLst/>
                <a:latin typeface="+mn-ea"/>
                <a:cs typeface="宋体" panose="02010600030101010101" pitchFamily="2" charset="-122"/>
              </a:rPr>
              <a:t>系统掌握有源、无源器件和部件微波参数的测量；掌握网络的传输和反射特性的测量；</a:t>
            </a:r>
            <a:endParaRPr lang="en-US" altLang="zh-CN" sz="1800" dirty="0">
              <a:effectLst/>
              <a:latin typeface="+mn-ea"/>
              <a:cs typeface="宋体" panose="02010600030101010101" pitchFamily="2" charset="-122"/>
            </a:endParaRPr>
          </a:p>
          <a:p>
            <a:pPr indent="306070" algn="just">
              <a:lnSpc>
                <a:spcPct val="150000"/>
              </a:lnSpc>
            </a:pPr>
            <a:r>
              <a:rPr lang="zh-CN" altLang="zh-CN" sz="1800" b="1" dirty="0">
                <a:effectLst/>
                <a:latin typeface="+mn-ea"/>
                <a:cs typeface="宋体" panose="02010600030101010101" pitchFamily="2" charset="-122"/>
              </a:rPr>
              <a:t>目标</a:t>
            </a:r>
            <a:r>
              <a:rPr lang="en-US" altLang="zh-CN" sz="1800" b="1" dirty="0">
                <a:effectLst/>
                <a:latin typeface="+mn-ea"/>
                <a:cs typeface="宋体" panose="02010600030101010101" pitchFamily="2" charset="-122"/>
              </a:rPr>
              <a:t>4</a:t>
            </a:r>
            <a:r>
              <a:rPr lang="zh-CN" altLang="zh-CN" sz="1800" b="1" dirty="0">
                <a:effectLst/>
                <a:latin typeface="+mn-ea"/>
                <a:cs typeface="宋体" panose="02010600030101010101" pitchFamily="2" charset="-122"/>
              </a:rPr>
              <a:t>：</a:t>
            </a:r>
            <a:r>
              <a:rPr lang="zh-CN" altLang="zh-CN" sz="1800" dirty="0">
                <a:effectLst/>
                <a:latin typeface="+mn-ea"/>
                <a:cs typeface="宋体" panose="02010600030101010101" pitchFamily="2" charset="-122"/>
              </a:rPr>
              <a:t>通过实验教学环节，能够掌握射频波段的基本的测量技术和实际应用的经验。</a:t>
            </a:r>
          </a:p>
        </p:txBody>
      </p:sp>
    </p:spTree>
    <p:extLst>
      <p:ext uri="{BB962C8B-B14F-4D97-AF65-F5344CB8AC3E}">
        <p14:creationId xmlns:p14="http://schemas.microsoft.com/office/powerpoint/2010/main" val="20547950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C9BF762-3D2B-3D07-503A-8386FB0EDDA1}"/>
              </a:ext>
            </a:extLst>
          </p:cNvPr>
          <p:cNvGraphicFramePr>
            <a:graphicFrameLocks noGrp="1"/>
          </p:cNvGraphicFramePr>
          <p:nvPr>
            <p:extLst>
              <p:ext uri="{D42A27DB-BD31-4B8C-83A1-F6EECF244321}">
                <p14:modId xmlns:p14="http://schemas.microsoft.com/office/powerpoint/2010/main" val="652903609"/>
              </p:ext>
            </p:extLst>
          </p:nvPr>
        </p:nvGraphicFramePr>
        <p:xfrm>
          <a:off x="251520" y="1196752"/>
          <a:ext cx="8496944" cy="3852551"/>
        </p:xfrm>
        <a:graphic>
          <a:graphicData uri="http://schemas.openxmlformats.org/drawingml/2006/table">
            <a:tbl>
              <a:tblPr>
                <a:tableStyleId>{5C22544A-7EE6-4342-B048-85BDC9FD1C3A}</a:tableStyleId>
              </a:tblPr>
              <a:tblGrid>
                <a:gridCol w="1340432">
                  <a:extLst>
                    <a:ext uri="{9D8B030D-6E8A-4147-A177-3AD203B41FA5}">
                      <a16:colId xmlns:a16="http://schemas.microsoft.com/office/drawing/2014/main" val="4174592035"/>
                    </a:ext>
                  </a:extLst>
                </a:gridCol>
                <a:gridCol w="4540067">
                  <a:extLst>
                    <a:ext uri="{9D8B030D-6E8A-4147-A177-3AD203B41FA5}">
                      <a16:colId xmlns:a16="http://schemas.microsoft.com/office/drawing/2014/main" val="3672460812"/>
                    </a:ext>
                  </a:extLst>
                </a:gridCol>
                <a:gridCol w="2616445">
                  <a:extLst>
                    <a:ext uri="{9D8B030D-6E8A-4147-A177-3AD203B41FA5}">
                      <a16:colId xmlns:a16="http://schemas.microsoft.com/office/drawing/2014/main" val="459915824"/>
                    </a:ext>
                  </a:extLst>
                </a:gridCol>
              </a:tblGrid>
              <a:tr h="366899">
                <a:tc>
                  <a:txBody>
                    <a:bodyPr/>
                    <a:lstStyle/>
                    <a:p>
                      <a:pPr algn="ctr"/>
                      <a:r>
                        <a:rPr lang="zh-CN" sz="1400" kern="100" dirty="0">
                          <a:effectLst/>
                        </a:rPr>
                        <a:t>课程目标</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ctr"/>
                      <a:r>
                        <a:rPr lang="zh-CN" sz="1400" kern="100">
                          <a:effectLst/>
                        </a:rPr>
                        <a:t>课程目标内容</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ctr"/>
                      <a:r>
                        <a:rPr lang="zh-CN" sz="1400" kern="100">
                          <a:effectLst/>
                        </a:rPr>
                        <a:t>达成途径</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extLst>
                  <a:ext uri="{0D108BD9-81ED-4DB2-BD59-A6C34878D82A}">
                    <a16:rowId xmlns:a16="http://schemas.microsoft.com/office/drawing/2014/main" val="3662918087"/>
                  </a:ext>
                </a:extLst>
              </a:tr>
              <a:tr h="1024542">
                <a:tc>
                  <a:txBody>
                    <a:bodyPr/>
                    <a:lstStyle/>
                    <a:p>
                      <a:pPr algn="ctr"/>
                      <a:r>
                        <a:rPr lang="zh-CN" sz="1400" kern="100" dirty="0">
                          <a:effectLst/>
                        </a:rPr>
                        <a:t>课程目标</a:t>
                      </a:r>
                      <a:r>
                        <a:rPr lang="en-US" sz="1400" kern="100" dirty="0">
                          <a:effectLst/>
                        </a:rPr>
                        <a:t>1</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ctr">
                        <a:lnSpc>
                          <a:spcPct val="150000"/>
                        </a:lnSpc>
                      </a:pPr>
                      <a:r>
                        <a:rPr lang="zh-CN" sz="1400" kern="100" dirty="0">
                          <a:effectLst/>
                        </a:rPr>
                        <a:t>通过场强测试类实验，根据无线通信中的复杂工程问题，运用数学、自然科学和工程科学原理及方法进行分析，建立解决电磁场问题的抽象模型，并得出结论。</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l">
                        <a:lnSpc>
                          <a:spcPct val="120000"/>
                        </a:lnSpc>
                      </a:pPr>
                      <a:r>
                        <a:rPr lang="zh-CN" sz="1400" kern="100">
                          <a:effectLst/>
                        </a:rPr>
                        <a:t>通过校园内无线信号场强特性研究及空间无线信号频谱特性研究等手段达成。</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extLst>
                  <a:ext uri="{0D108BD9-81ED-4DB2-BD59-A6C34878D82A}">
                    <a16:rowId xmlns:a16="http://schemas.microsoft.com/office/drawing/2014/main" val="3483201555"/>
                  </a:ext>
                </a:extLst>
              </a:tr>
              <a:tr h="1553528">
                <a:tc>
                  <a:txBody>
                    <a:bodyPr/>
                    <a:lstStyle/>
                    <a:p>
                      <a:pPr algn="ctr"/>
                      <a:r>
                        <a:rPr lang="zh-CN" sz="1400" kern="100">
                          <a:effectLst/>
                        </a:rPr>
                        <a:t>课程目标</a:t>
                      </a:r>
                      <a:r>
                        <a:rPr lang="en-US" sz="1400" kern="100">
                          <a:effectLst/>
                        </a:rPr>
                        <a:t>2</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ctr">
                        <a:lnSpc>
                          <a:spcPct val="150000"/>
                        </a:lnSpc>
                      </a:pPr>
                      <a:r>
                        <a:rPr lang="zh-CN" sz="1400" kern="100" dirty="0">
                          <a:effectLst/>
                        </a:rPr>
                        <a:t>通过电磁场参量测试实验，提供电磁场与电磁波方面基础知识和实验方法，包括相关概念、一般原理、各种技术指标的测试和分析方法等。通过实践操作、测试方法的设计，了解技术发展水平，提高设计和创新能力。</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l">
                        <a:lnSpc>
                          <a:spcPct val="120000"/>
                        </a:lnSpc>
                      </a:pPr>
                      <a:r>
                        <a:rPr lang="zh-CN" sz="1400" kern="100">
                          <a:effectLst/>
                        </a:rPr>
                        <a:t>通过电磁波参量以及均匀无耗媒质参量测量研究、电磁波反射和折射研究、圆极化波特性研究等手段达成。</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extLst>
                  <a:ext uri="{0D108BD9-81ED-4DB2-BD59-A6C34878D82A}">
                    <a16:rowId xmlns:a16="http://schemas.microsoft.com/office/drawing/2014/main" val="926349406"/>
                  </a:ext>
                </a:extLst>
              </a:tr>
              <a:tr h="907582">
                <a:tc>
                  <a:txBody>
                    <a:bodyPr/>
                    <a:lstStyle/>
                    <a:p>
                      <a:pPr algn="ctr"/>
                      <a:r>
                        <a:rPr lang="zh-CN" sz="1400" kern="100" dirty="0">
                          <a:effectLst/>
                        </a:rPr>
                        <a:t>课程目标</a:t>
                      </a:r>
                      <a:r>
                        <a:rPr lang="en-US" altLang="zh-CN" sz="1400" kern="100" dirty="0">
                          <a:effectLst/>
                        </a:rPr>
                        <a:t>3</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ctr">
                        <a:lnSpc>
                          <a:spcPct val="150000"/>
                        </a:lnSpc>
                      </a:pPr>
                      <a:r>
                        <a:rPr lang="zh-CN" sz="1400" kern="100">
                          <a:effectLst/>
                        </a:rPr>
                        <a:t>通过使用现代化仪器仪表，完成无线通信与射频电路设计中复杂工程问题的模拟与仿真分析，并理解其局限性。</a:t>
                      </a:r>
                      <a:endParaRPr lang="zh-CN" sz="1400" kern="100">
                        <a:effectLst/>
                        <a:latin typeface="Times New Roman" panose="02020603050405020304" pitchFamily="18" charset="0"/>
                        <a:ea typeface="宋体" panose="02010600030101010101" pitchFamily="2" charset="-122"/>
                      </a:endParaRPr>
                    </a:p>
                  </a:txBody>
                  <a:tcPr marL="65223" marR="65223" marT="0" marB="0" anchor="ctr"/>
                </a:tc>
                <a:tc>
                  <a:txBody>
                    <a:bodyPr/>
                    <a:lstStyle/>
                    <a:p>
                      <a:pPr algn="l">
                        <a:lnSpc>
                          <a:spcPct val="120000"/>
                        </a:lnSpc>
                      </a:pPr>
                      <a:r>
                        <a:rPr lang="zh-CN" sz="1400" kern="100" dirty="0">
                          <a:effectLst/>
                        </a:rPr>
                        <a:t>通过频谱仪参量测量、网络参量测量、场强特性研究等手段达成。</a:t>
                      </a:r>
                      <a:endParaRPr lang="zh-CN" sz="1400" kern="100" dirty="0">
                        <a:effectLst/>
                        <a:latin typeface="Times New Roman" panose="02020603050405020304" pitchFamily="18" charset="0"/>
                        <a:ea typeface="宋体" panose="02010600030101010101" pitchFamily="2" charset="-122"/>
                      </a:endParaRPr>
                    </a:p>
                  </a:txBody>
                  <a:tcPr marL="65223" marR="65223" marT="0" marB="0" anchor="ctr"/>
                </a:tc>
                <a:extLst>
                  <a:ext uri="{0D108BD9-81ED-4DB2-BD59-A6C34878D82A}">
                    <a16:rowId xmlns:a16="http://schemas.microsoft.com/office/drawing/2014/main" val="2494177894"/>
                  </a:ext>
                </a:extLst>
              </a:tr>
            </a:tbl>
          </a:graphicData>
        </a:graphic>
      </p:graphicFrame>
      <p:sp>
        <p:nvSpPr>
          <p:cNvPr id="3" name="矩形 2">
            <a:extLst>
              <a:ext uri="{FF2B5EF4-FFF2-40B4-BE49-F238E27FC236}">
                <a16:creationId xmlns:a16="http://schemas.microsoft.com/office/drawing/2014/main" id="{179238C9-CBAF-4172-5F96-32B9E410C904}"/>
              </a:ext>
            </a:extLst>
          </p:cNvPr>
          <p:cNvSpPr/>
          <p:nvPr/>
        </p:nvSpPr>
        <p:spPr>
          <a:xfrm>
            <a:off x="251520" y="227437"/>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实验课程背景</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电磁场实验</a:t>
            </a:r>
            <a:r>
              <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课程；</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818232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5A43C20C-8691-DDF6-1213-03FEA7B8FCDC}"/>
              </a:ext>
            </a:extLst>
          </p:cNvPr>
          <p:cNvGraphicFramePr>
            <a:graphicFrameLocks noGrp="1"/>
          </p:cNvGraphicFramePr>
          <p:nvPr>
            <p:extLst>
              <p:ext uri="{D42A27DB-BD31-4B8C-83A1-F6EECF244321}">
                <p14:modId xmlns:p14="http://schemas.microsoft.com/office/powerpoint/2010/main" val="666441571"/>
              </p:ext>
            </p:extLst>
          </p:nvPr>
        </p:nvGraphicFramePr>
        <p:xfrm>
          <a:off x="323528" y="820188"/>
          <a:ext cx="8352929" cy="6065196"/>
        </p:xfrm>
        <a:graphic>
          <a:graphicData uri="http://schemas.openxmlformats.org/drawingml/2006/table">
            <a:tbl>
              <a:tblPr>
                <a:tableStyleId>{5C22544A-7EE6-4342-B048-85BDC9FD1C3A}</a:tableStyleId>
              </a:tblPr>
              <a:tblGrid>
                <a:gridCol w="676776">
                  <a:extLst>
                    <a:ext uri="{9D8B030D-6E8A-4147-A177-3AD203B41FA5}">
                      <a16:colId xmlns:a16="http://schemas.microsoft.com/office/drawing/2014/main" val="607457730"/>
                    </a:ext>
                  </a:extLst>
                </a:gridCol>
                <a:gridCol w="1843504">
                  <a:extLst>
                    <a:ext uri="{9D8B030D-6E8A-4147-A177-3AD203B41FA5}">
                      <a16:colId xmlns:a16="http://schemas.microsoft.com/office/drawing/2014/main" val="1243002306"/>
                    </a:ext>
                  </a:extLst>
                </a:gridCol>
                <a:gridCol w="4032448">
                  <a:extLst>
                    <a:ext uri="{9D8B030D-6E8A-4147-A177-3AD203B41FA5}">
                      <a16:colId xmlns:a16="http://schemas.microsoft.com/office/drawing/2014/main" val="3602700921"/>
                    </a:ext>
                  </a:extLst>
                </a:gridCol>
                <a:gridCol w="1800201">
                  <a:extLst>
                    <a:ext uri="{9D8B030D-6E8A-4147-A177-3AD203B41FA5}">
                      <a16:colId xmlns:a16="http://schemas.microsoft.com/office/drawing/2014/main" val="658310808"/>
                    </a:ext>
                  </a:extLst>
                </a:gridCol>
              </a:tblGrid>
              <a:tr h="428658">
                <a:tc>
                  <a:txBody>
                    <a:bodyPr/>
                    <a:lstStyle/>
                    <a:p>
                      <a:pPr algn="ctr"/>
                      <a:r>
                        <a:rPr lang="zh-CN" sz="1600" kern="100" dirty="0">
                          <a:effectLst/>
                        </a:rPr>
                        <a:t>序号</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ctr"/>
                      <a:r>
                        <a:rPr lang="zh-CN" sz="1600" kern="100" dirty="0">
                          <a:effectLst/>
                        </a:rPr>
                        <a:t>教学内容</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ctr"/>
                      <a:r>
                        <a:rPr lang="zh-CN" sz="1600" kern="100" dirty="0">
                          <a:effectLst/>
                        </a:rPr>
                        <a:t>教学目标与要求</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ctr"/>
                      <a:r>
                        <a:rPr lang="zh-CN" sz="1600" kern="100" dirty="0">
                          <a:effectLst/>
                        </a:rPr>
                        <a:t>对课程目标的支撑</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304822160"/>
                  </a:ext>
                </a:extLst>
              </a:tr>
              <a:tr h="857318">
                <a:tc>
                  <a:txBody>
                    <a:bodyPr/>
                    <a:lstStyle/>
                    <a:p>
                      <a:pPr algn="ctr"/>
                      <a:r>
                        <a:rPr lang="en-US" sz="1600" kern="100" dirty="0">
                          <a:effectLst/>
                        </a:rPr>
                        <a:t>1</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dirty="0">
                          <a:effectLst/>
                        </a:rPr>
                        <a:t>电磁波参量的测量</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了解和掌握三厘米固态信号发生器的工作原理、矩形波导及构成电磁波综合测试仪的各微波器件的工作原理；</a:t>
                      </a:r>
                      <a:r>
                        <a:rPr lang="en-US" sz="1600" kern="100" dirty="0">
                          <a:effectLst/>
                        </a:rPr>
                        <a:t> </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支撑课程目标</a:t>
                      </a:r>
                      <a:r>
                        <a:rPr lang="en-US" sz="1600" kern="100" dirty="0">
                          <a:effectLst/>
                        </a:rPr>
                        <a:t>2</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161648541"/>
                  </a:ext>
                </a:extLst>
              </a:tr>
              <a:tr h="642988">
                <a:tc>
                  <a:txBody>
                    <a:bodyPr/>
                    <a:lstStyle/>
                    <a:p>
                      <a:pPr algn="ctr"/>
                      <a:r>
                        <a:rPr lang="en-US" altLang="zh-CN" sz="1600" kern="100" dirty="0">
                          <a:effectLst/>
                          <a:latin typeface="Times New Roman" panose="02020603050405020304" pitchFamily="18" charset="0"/>
                          <a:ea typeface="宋体" panose="02010600030101010101" pitchFamily="2" charset="-122"/>
                        </a:rPr>
                        <a:t>2</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a:effectLst/>
                        </a:rPr>
                        <a:t>电磁波均匀无耗媒质参量的测量</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学会利用相干波原理测定自由空间内电磁波波长</a:t>
                      </a:r>
                      <a:r>
                        <a:rPr lang="en-US" sz="1600" kern="100" dirty="0">
                          <a:effectLst/>
                        </a:rPr>
                        <a:t>λ</a:t>
                      </a:r>
                      <a:r>
                        <a:rPr lang="zh-CN" sz="1600" kern="100" dirty="0">
                          <a:effectLst/>
                        </a:rPr>
                        <a:t>及相关参量；均匀无损耗媒质参量</a:t>
                      </a:r>
                      <a:r>
                        <a:rPr lang="en-US" sz="1600" kern="100" dirty="0" err="1">
                          <a:effectLst/>
                        </a:rPr>
                        <a:t>ε</a:t>
                      </a:r>
                      <a:r>
                        <a:rPr lang="en-US" sz="1600" kern="100" baseline="-25000" dirty="0" err="1">
                          <a:effectLst/>
                        </a:rPr>
                        <a:t>r</a:t>
                      </a:r>
                      <a:r>
                        <a:rPr lang="en-US" sz="1600" kern="100" dirty="0">
                          <a:effectLst/>
                        </a:rPr>
                        <a:t>(</a:t>
                      </a:r>
                      <a:r>
                        <a:rPr lang="en-US" sz="1600" kern="100" dirty="0" err="1">
                          <a:effectLst/>
                        </a:rPr>
                        <a:t>μ</a:t>
                      </a:r>
                      <a:r>
                        <a:rPr lang="en-US" sz="1600" kern="100" baseline="-25000" dirty="0" err="1">
                          <a:effectLst/>
                        </a:rPr>
                        <a:t>r</a:t>
                      </a:r>
                      <a:r>
                        <a:rPr lang="en-US" sz="1600" kern="100" dirty="0">
                          <a:effectLst/>
                        </a:rPr>
                        <a:t>)</a:t>
                      </a:r>
                      <a:r>
                        <a:rPr lang="zh-CN" sz="1600" kern="100" dirty="0">
                          <a:effectLst/>
                        </a:rPr>
                        <a:t>的测试；</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支撑课程目标</a:t>
                      </a:r>
                      <a:r>
                        <a:rPr lang="en-US" sz="1600" kern="100" dirty="0">
                          <a:effectLst/>
                        </a:rPr>
                        <a:t>2</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2322972142"/>
                  </a:ext>
                </a:extLst>
              </a:tr>
              <a:tr h="1071648">
                <a:tc>
                  <a:txBody>
                    <a:bodyPr/>
                    <a:lstStyle/>
                    <a:p>
                      <a:pPr algn="ctr"/>
                      <a:r>
                        <a:rPr lang="en-US" altLang="zh-CN" sz="1600" kern="100" dirty="0">
                          <a:effectLst/>
                          <a:latin typeface="Times New Roman" panose="02020603050405020304" pitchFamily="18" charset="0"/>
                          <a:ea typeface="宋体" panose="02010600030101010101" pitchFamily="2" charset="-122"/>
                        </a:rPr>
                        <a:t>3</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a:effectLst/>
                        </a:rPr>
                        <a:t>电磁波反射和折射的研究</a:t>
                      </a:r>
                    </a:p>
                    <a:p>
                      <a:pPr algn="just"/>
                      <a:r>
                        <a:rPr lang="en-US" sz="1600" kern="100">
                          <a:effectLst/>
                        </a:rPr>
                        <a:t> </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了解矩形波导产生平行极化波和垂直极化波的原理，研究电磁波在良好导体表面上的反射；研究电磁波在良好介质表面上的反射和折射；研究电磁波全折射的条件；</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a:effectLst/>
                        </a:rPr>
                        <a:t>支撑课程目标</a:t>
                      </a:r>
                      <a:r>
                        <a:rPr lang="en-US" sz="1600" kern="100">
                          <a:effectLst/>
                        </a:rPr>
                        <a:t>2</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2180290184"/>
                  </a:ext>
                </a:extLst>
              </a:tr>
              <a:tr h="1261417">
                <a:tc>
                  <a:txBody>
                    <a:bodyPr/>
                    <a:lstStyle/>
                    <a:p>
                      <a:pPr algn="ctr"/>
                      <a:r>
                        <a:rPr lang="en-US" altLang="zh-CN" sz="1600" kern="100" dirty="0">
                          <a:effectLst/>
                          <a:latin typeface="Times New Roman" panose="02020603050405020304" pitchFamily="18" charset="0"/>
                          <a:ea typeface="宋体" panose="02010600030101010101" pitchFamily="2" charset="-122"/>
                        </a:rPr>
                        <a:t>4</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a:effectLst/>
                        </a:rPr>
                        <a:t>圆极化波特性的研究</a:t>
                      </a:r>
                      <a:r>
                        <a:rPr lang="en-US" sz="1600" kern="100">
                          <a:effectLst/>
                        </a:rPr>
                        <a:t>  </a:t>
                      </a:r>
                      <a:endParaRPr lang="zh-CN" sz="1600" kern="100">
                        <a:effectLst/>
                      </a:endParaRPr>
                    </a:p>
                    <a:p>
                      <a:pPr algn="l">
                        <a:lnSpc>
                          <a:spcPct val="120000"/>
                        </a:lnSpc>
                      </a:pPr>
                      <a:r>
                        <a:rPr lang="en-US" sz="1600" kern="100">
                          <a:effectLst/>
                        </a:rPr>
                        <a:t> </a:t>
                      </a:r>
                      <a:endParaRPr lang="zh-CN" sz="1600" kern="100">
                        <a:effectLst/>
                      </a:endParaRPr>
                    </a:p>
                    <a:p>
                      <a:pPr algn="just"/>
                      <a:r>
                        <a:rPr lang="en-US" sz="1600" kern="100">
                          <a:effectLst/>
                        </a:rPr>
                        <a:t> </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dirty="0">
                          <a:effectLst/>
                        </a:rPr>
                        <a:t>研究右旋、左旋圆极化波的形成、辐射和接收过程；研究右旋、左旋圆极化波的反射和折射特性及测试方法；掌握圆极化波椭圆度的测试方法；</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a:effectLst/>
                        </a:rPr>
                        <a:t>支撑课程目标</a:t>
                      </a:r>
                      <a:r>
                        <a:rPr lang="en-US" sz="1600" kern="100">
                          <a:effectLst/>
                        </a:rPr>
                        <a:t>2</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2143247436"/>
                  </a:ext>
                </a:extLst>
              </a:tr>
              <a:tr h="1714635">
                <a:tc>
                  <a:txBody>
                    <a:bodyPr/>
                    <a:lstStyle/>
                    <a:p>
                      <a:pPr algn="ctr"/>
                      <a:r>
                        <a:rPr lang="en-US" altLang="zh-CN" sz="1600" kern="100" dirty="0">
                          <a:effectLst/>
                          <a:latin typeface="Times New Roman" panose="02020603050405020304" pitchFamily="18" charset="0"/>
                          <a:ea typeface="宋体" panose="02010600030101010101" pitchFamily="2" charset="-122"/>
                        </a:rPr>
                        <a:t>5</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l">
                        <a:lnSpc>
                          <a:spcPct val="120000"/>
                        </a:lnSpc>
                      </a:pPr>
                      <a:r>
                        <a:rPr lang="zh-CN" sz="1600" kern="100">
                          <a:effectLst/>
                        </a:rPr>
                        <a:t>校园内无线信号场强特性的研究</a:t>
                      </a:r>
                      <a:r>
                        <a:rPr lang="en-US" sz="1600" kern="100">
                          <a:effectLst/>
                        </a:rPr>
                        <a:t>   </a:t>
                      </a:r>
                      <a:endParaRPr lang="zh-CN" sz="1600" kern="100">
                        <a:effectLst/>
                      </a:endParaRPr>
                    </a:p>
                    <a:p>
                      <a:pPr algn="l">
                        <a:lnSpc>
                          <a:spcPct val="120000"/>
                        </a:lnSpc>
                      </a:pPr>
                      <a:r>
                        <a:rPr lang="en-US" sz="1600" kern="100">
                          <a:effectLst/>
                        </a:rPr>
                        <a:t> </a:t>
                      </a:r>
                      <a:endParaRPr lang="zh-CN" sz="1600" kern="10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研究所选测量信号为真实存在的空间无线信号，实验前同学需自己查资料，自己选定测量频点及环境。用场强仪测量采集大量数据，并对所测数据进行编程处理，通过编程所得图表和数据，研究阴影衰落及其分布规律；研究建筑物穿透损耗随频率与建筑材料的变化关系等；</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tc>
                  <a:txBody>
                    <a:bodyPr/>
                    <a:lstStyle/>
                    <a:p>
                      <a:pPr algn="just"/>
                      <a:r>
                        <a:rPr lang="zh-CN" sz="1600" kern="100" dirty="0">
                          <a:effectLst/>
                        </a:rPr>
                        <a:t>支撑课程目标</a:t>
                      </a:r>
                      <a:r>
                        <a:rPr lang="en-US" sz="1600" kern="100" dirty="0">
                          <a:effectLst/>
                        </a:rPr>
                        <a:t>1</a:t>
                      </a:r>
                      <a:endParaRPr lang="zh-CN" sz="1600" kern="100" dirty="0">
                        <a:effectLst/>
                        <a:latin typeface="Times New Roman" panose="02020603050405020304" pitchFamily="18" charset="0"/>
                        <a:ea typeface="宋体" panose="02010600030101010101" pitchFamily="2" charset="-122"/>
                      </a:endParaRPr>
                    </a:p>
                  </a:txBody>
                  <a:tcPr marL="50553" marR="50553" marT="0" marB="0" anchor="ctr"/>
                </a:tc>
                <a:extLst>
                  <a:ext uri="{0D108BD9-81ED-4DB2-BD59-A6C34878D82A}">
                    <a16:rowId xmlns:a16="http://schemas.microsoft.com/office/drawing/2014/main" val="1613948076"/>
                  </a:ext>
                </a:extLst>
              </a:tr>
            </a:tbl>
          </a:graphicData>
        </a:graphic>
      </p:graphicFrame>
      <p:sp>
        <p:nvSpPr>
          <p:cNvPr id="3" name="矩形 2">
            <a:extLst>
              <a:ext uri="{FF2B5EF4-FFF2-40B4-BE49-F238E27FC236}">
                <a16:creationId xmlns:a16="http://schemas.microsoft.com/office/drawing/2014/main" id="{230ADF81-D17E-F885-ED1C-FEF6C1BCB823}"/>
              </a:ext>
            </a:extLst>
          </p:cNvPr>
          <p:cNvSpPr/>
          <p:nvPr/>
        </p:nvSpPr>
        <p:spPr>
          <a:xfrm>
            <a:off x="251520" y="227437"/>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实验一二三四总结</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403958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E5CCCA7-B205-9D52-2C03-EFB3B3CB67C7}"/>
              </a:ext>
            </a:extLst>
          </p:cNvPr>
          <p:cNvSpPr/>
          <p:nvPr/>
        </p:nvSpPr>
        <p:spPr>
          <a:xfrm>
            <a:off x="251520" y="227437"/>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实验五说明</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2D781C15-088E-5A1A-CB9F-DC1BDE906DD7}"/>
              </a:ext>
            </a:extLst>
          </p:cNvPr>
          <p:cNvSpPr txBox="1"/>
          <p:nvPr/>
        </p:nvSpPr>
        <p:spPr>
          <a:xfrm>
            <a:off x="395536" y="793275"/>
            <a:ext cx="8424936" cy="2591094"/>
          </a:xfrm>
          <a:prstGeom prst="rect">
            <a:avLst/>
          </a:prstGeom>
          <a:noFill/>
        </p:spPr>
        <p:txBody>
          <a:bodyPr wrap="square">
            <a:spAutoFit/>
          </a:bodyPr>
          <a:lstStyle/>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 为什么设置这个实验？</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偏工程性加深对理论知识的理解</a:t>
            </a:r>
            <a:endParaRPr lang="en-US" altLang="zh-CN" sz="2400"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课前准备</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无线信号传输知识，</a:t>
            </a:r>
            <a:r>
              <a:rPr lang="en-US" altLang="zh-CN" sz="2400" dirty="0" err="1">
                <a:latin typeface="宋体" panose="02010600030101010101" pitchFamily="2" charset="-122"/>
                <a:ea typeface="宋体" panose="02010600030101010101" pitchFamily="2" charset="-122"/>
              </a:rPr>
              <a:t>matlab</a:t>
            </a:r>
            <a:r>
              <a:rPr lang="zh-CN" altLang="en-US" sz="2400" dirty="0">
                <a:latin typeface="宋体" panose="02010600030101010101" pitchFamily="2" charset="-122"/>
                <a:ea typeface="宋体" panose="02010600030101010101" pitchFamily="2" charset="-122"/>
              </a:rPr>
              <a:t>工具</a:t>
            </a:r>
            <a:endParaRPr lang="en-US" altLang="zh-CN" sz="2400"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 明确测量环境及频率</a:t>
            </a:r>
            <a:endParaRPr lang="en-US" altLang="zh-CN" sz="2400" dirty="0">
              <a:latin typeface="宋体" panose="02010600030101010101" pitchFamily="2" charset="-122"/>
              <a:ea typeface="宋体" panose="02010600030101010101" pitchFamily="2" charset="-122"/>
            </a:endParaRPr>
          </a:p>
          <a:p>
            <a:pPr marL="285750" indent="-285750">
              <a:lnSpc>
                <a:spcPct val="150000"/>
              </a:lnSpc>
              <a:buFont typeface="Wingdings" panose="05000000000000000000" pitchFamily="2" charset="2"/>
              <a:buChar char="Ø"/>
            </a:pPr>
            <a:endParaRPr lang="zh-CN" altLang="en-US" sz="2400" dirty="0">
              <a:latin typeface="+mn-ea"/>
            </a:endParaRPr>
          </a:p>
        </p:txBody>
      </p:sp>
    </p:spTree>
    <p:extLst>
      <p:ext uri="{BB962C8B-B14F-4D97-AF65-F5344CB8AC3E}">
        <p14:creationId xmlns:p14="http://schemas.microsoft.com/office/powerpoint/2010/main" val="4230682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AA942F0-E705-A944-D96F-3472621236E8}"/>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BFA39FC6-3BCB-ADF8-84AB-A81787220A29}"/>
              </a:ext>
            </a:extLst>
          </p:cNvPr>
          <p:cNvSpPr txBox="1"/>
          <p:nvPr/>
        </p:nvSpPr>
        <p:spPr>
          <a:xfrm>
            <a:off x="395536" y="793275"/>
            <a:ext cx="8424936" cy="2989280"/>
          </a:xfrm>
          <a:prstGeom prst="rect">
            <a:avLst/>
          </a:prstGeom>
          <a:noFill/>
        </p:spPr>
        <p:txBody>
          <a:bodyPr wrap="square">
            <a:spAutoFit/>
          </a:bodyPr>
          <a:lstStyle/>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r>
              <a:rPr lang="zh-CN" altLang="en-US" sz="1600" dirty="0">
                <a:ea typeface="宋体" panose="02010600030101010101" pitchFamily="2" charset="-122"/>
              </a:rPr>
              <a:t>无线电波</a:t>
            </a:r>
            <a:r>
              <a:rPr lang="en-US" altLang="zh-CN" sz="1600" dirty="0">
                <a:ea typeface="宋体" panose="02010600030101010101" pitchFamily="2" charset="-122"/>
              </a:rPr>
              <a:t>----</a:t>
            </a:r>
            <a:r>
              <a:rPr lang="zh-CN" altLang="en-US" sz="1600" dirty="0">
                <a:ea typeface="宋体" panose="02010600030101010101" pitchFamily="2" charset="-122"/>
              </a:rPr>
              <a:t>依靠自由空间传播的频率从几赫兹到</a:t>
            </a:r>
            <a:r>
              <a:rPr lang="en-US" altLang="zh-CN" sz="1600" dirty="0">
                <a:ea typeface="宋体" panose="02010600030101010101" pitchFamily="2" charset="-122"/>
              </a:rPr>
              <a:t>3000GHz</a:t>
            </a:r>
            <a:r>
              <a:rPr lang="zh-CN" altLang="en-US" sz="1600" dirty="0">
                <a:ea typeface="宋体" panose="02010600030101010101" pitchFamily="2" charset="-122"/>
              </a:rPr>
              <a:t>范围内的电磁波</a:t>
            </a: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a:lnSpc>
                <a:spcPct val="150000"/>
              </a:lnSpc>
            </a:pPr>
            <a:endParaRPr lang="en-US" altLang="zh-CN" sz="1600" dirty="0">
              <a:latin typeface="+mn-ea"/>
            </a:endParaRPr>
          </a:p>
          <a:p>
            <a:pPr marL="285750" indent="-285750">
              <a:lnSpc>
                <a:spcPct val="150000"/>
              </a:lnSpc>
              <a:buFont typeface="Wingdings" panose="05000000000000000000" pitchFamily="2" charset="2"/>
              <a:buChar char="Ø"/>
            </a:pPr>
            <a:r>
              <a:rPr lang="zh-CN" altLang="en-US" sz="1600" dirty="0">
                <a:latin typeface="+mn-ea"/>
              </a:rPr>
              <a:t>无线通信系统是由发射机、发射天线、无线信道、接收机、接收天线所组成。只有处在发射信号</a:t>
            </a:r>
            <a:r>
              <a:rPr lang="zh-CN" altLang="en-US" sz="1600" b="1" dirty="0">
                <a:solidFill>
                  <a:srgbClr val="FF0000"/>
                </a:solidFill>
                <a:latin typeface="+mn-ea"/>
              </a:rPr>
              <a:t>覆盖区</a:t>
            </a:r>
            <a:r>
              <a:rPr lang="zh-CN" altLang="en-US" sz="1600" dirty="0">
                <a:latin typeface="+mn-ea"/>
              </a:rPr>
              <a:t>内才能保证接收机正常接收信号。此时此处电波场强大于等于接收机灵敏度。决定覆盖区的因素有：发射功率、馈线及接头损耗、天线增益、天线架设高度、路径损耗、衰落、接收机高度、人体效应、接收机灵敏度、建筑物的穿透损耗、同播、同频干扰。</a:t>
            </a:r>
          </a:p>
        </p:txBody>
      </p:sp>
      <p:grpSp>
        <p:nvGrpSpPr>
          <p:cNvPr id="4" name="Group 5">
            <a:extLst>
              <a:ext uri="{FF2B5EF4-FFF2-40B4-BE49-F238E27FC236}">
                <a16:creationId xmlns:a16="http://schemas.microsoft.com/office/drawing/2014/main" id="{0A6219FA-062A-4CCA-6BDC-2A4DB835EE3B}"/>
              </a:ext>
            </a:extLst>
          </p:cNvPr>
          <p:cNvGrpSpPr>
            <a:grpSpLocks/>
          </p:cNvGrpSpPr>
          <p:nvPr/>
        </p:nvGrpSpPr>
        <p:grpSpPr bwMode="auto">
          <a:xfrm>
            <a:off x="2411760" y="1489994"/>
            <a:ext cx="4535488" cy="782638"/>
            <a:chOff x="1497" y="2552"/>
            <a:chExt cx="2857" cy="493"/>
          </a:xfrm>
        </p:grpSpPr>
        <p:sp>
          <p:nvSpPr>
            <p:cNvPr id="5" name="Text Box 6">
              <a:extLst>
                <a:ext uri="{FF2B5EF4-FFF2-40B4-BE49-F238E27FC236}">
                  <a16:creationId xmlns:a16="http://schemas.microsoft.com/office/drawing/2014/main" id="{73C1EE8F-4656-5E51-4C7C-6CDB5416DD4A}"/>
                </a:ext>
              </a:extLst>
            </p:cNvPr>
            <p:cNvSpPr txBox="1">
              <a:spLocks noChangeArrowheads="1"/>
            </p:cNvSpPr>
            <p:nvPr/>
          </p:nvSpPr>
          <p:spPr bwMode="auto">
            <a:xfrm>
              <a:off x="1497" y="2704"/>
              <a:ext cx="7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000" dirty="0">
                  <a:latin typeface="Blackadder ITC" panose="04020505051007020D02" pitchFamily="82" charset="0"/>
                  <a:ea typeface="宋体" panose="02010600030101010101" pitchFamily="2" charset="-122"/>
                </a:rPr>
                <a:t>f  </a:t>
              </a:r>
              <a:r>
                <a:rPr kumimoji="1" lang="en-US" altLang="zh-CN" sz="2000" dirty="0">
                  <a:latin typeface="Times New Roman" panose="02020603050405020304" pitchFamily="18" charset="0"/>
                  <a:ea typeface="宋体" panose="02010600030101010101" pitchFamily="2" charset="-122"/>
                </a:rPr>
                <a:t>= </a:t>
              </a:r>
              <a:r>
                <a:rPr kumimoji="1" lang="en-US" altLang="zh-CN" sz="2000" dirty="0">
                  <a:latin typeface="Times New Roman" panose="02020603050405020304" pitchFamily="18" charset="0"/>
                  <a:ea typeface="宋体" panose="02010600030101010101" pitchFamily="2" charset="-122"/>
                  <a:sym typeface="Symbol" panose="05050102010706020507" pitchFamily="18" charset="2"/>
                </a:rPr>
                <a:t>/=</a:t>
              </a:r>
            </a:p>
          </p:txBody>
        </p:sp>
        <p:grpSp>
          <p:nvGrpSpPr>
            <p:cNvPr id="6" name="Group 7">
              <a:extLst>
                <a:ext uri="{FF2B5EF4-FFF2-40B4-BE49-F238E27FC236}">
                  <a16:creationId xmlns:a16="http://schemas.microsoft.com/office/drawing/2014/main" id="{1ADA791A-BA26-EA76-24C0-27A96ED2FD6F}"/>
                </a:ext>
              </a:extLst>
            </p:cNvPr>
            <p:cNvGrpSpPr>
              <a:grpSpLocks/>
            </p:cNvGrpSpPr>
            <p:nvPr/>
          </p:nvGrpSpPr>
          <p:grpSpPr bwMode="auto">
            <a:xfrm>
              <a:off x="2267" y="2552"/>
              <a:ext cx="1271" cy="493"/>
              <a:chOff x="2267" y="2552"/>
              <a:chExt cx="1271" cy="493"/>
            </a:xfrm>
          </p:grpSpPr>
          <p:sp>
            <p:nvSpPr>
              <p:cNvPr id="8" name="Text Box 8">
                <a:extLst>
                  <a:ext uri="{FF2B5EF4-FFF2-40B4-BE49-F238E27FC236}">
                    <a16:creationId xmlns:a16="http://schemas.microsoft.com/office/drawing/2014/main" id="{4FBD1501-649B-F2AE-9905-10B145018FA5}"/>
                  </a:ext>
                </a:extLst>
              </p:cNvPr>
              <p:cNvSpPr txBox="1">
                <a:spLocks noChangeArrowheads="1"/>
              </p:cNvSpPr>
              <p:nvPr/>
            </p:nvSpPr>
            <p:spPr bwMode="auto">
              <a:xfrm>
                <a:off x="2267" y="2552"/>
                <a:ext cx="12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000" dirty="0">
                    <a:latin typeface="Times New Roman" panose="02020603050405020304" pitchFamily="18" charset="0"/>
                    <a:ea typeface="宋体" panose="02010600030101010101" pitchFamily="2" charset="-122"/>
                  </a:rPr>
                  <a:t>3.0×10</a:t>
                </a:r>
                <a:r>
                  <a:rPr kumimoji="1" lang="en-US" altLang="zh-CN" sz="2000" baseline="30000" dirty="0">
                    <a:latin typeface="Times New Roman" panose="02020603050405020304" pitchFamily="18" charset="0"/>
                    <a:ea typeface="宋体" panose="02010600030101010101" pitchFamily="2" charset="-122"/>
                  </a:rPr>
                  <a:t>8</a:t>
                </a:r>
                <a:r>
                  <a:rPr kumimoji="1" lang="zh-CN" altLang="en-US" sz="2000" dirty="0">
                    <a:latin typeface="Times New Roman" panose="02020603050405020304" pitchFamily="18" charset="0"/>
                    <a:ea typeface="宋体" panose="02010600030101010101" pitchFamily="2" charset="-122"/>
                  </a:rPr>
                  <a:t>米</a:t>
                </a:r>
                <a:r>
                  <a:rPr kumimoji="1" lang="en-US" altLang="zh-CN" sz="2000" dirty="0">
                    <a:latin typeface="Times New Roman" panose="02020603050405020304" pitchFamily="18" charset="0"/>
                    <a:ea typeface="宋体" panose="02010600030101010101" pitchFamily="2" charset="-122"/>
                  </a:rPr>
                  <a:t>/</a:t>
                </a:r>
                <a:r>
                  <a:rPr kumimoji="1" lang="zh-CN" altLang="en-US" sz="2000" dirty="0">
                    <a:latin typeface="Times New Roman" panose="02020603050405020304" pitchFamily="18" charset="0"/>
                    <a:ea typeface="宋体" panose="02010600030101010101" pitchFamily="2" charset="-122"/>
                  </a:rPr>
                  <a:t>秒</a:t>
                </a:r>
              </a:p>
            </p:txBody>
          </p:sp>
          <p:sp>
            <p:nvSpPr>
              <p:cNvPr id="9" name="Text Box 9">
                <a:extLst>
                  <a:ext uri="{FF2B5EF4-FFF2-40B4-BE49-F238E27FC236}">
                    <a16:creationId xmlns:a16="http://schemas.microsoft.com/office/drawing/2014/main" id="{8D465F12-103E-1B67-92DF-C42AA55DCFAA}"/>
                  </a:ext>
                </a:extLst>
              </p:cNvPr>
              <p:cNvSpPr txBox="1">
                <a:spLocks noChangeArrowheads="1"/>
              </p:cNvSpPr>
              <p:nvPr/>
            </p:nvSpPr>
            <p:spPr bwMode="auto">
              <a:xfrm>
                <a:off x="2585" y="2795"/>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000">
                    <a:latin typeface="Times New Roman" panose="02020603050405020304" pitchFamily="18" charset="0"/>
                    <a:ea typeface="宋体" panose="02010600030101010101" pitchFamily="2" charset="-122"/>
                    <a:sym typeface="Symbol" panose="05050102010706020507" pitchFamily="18" charset="2"/>
                  </a:rPr>
                  <a:t>米</a:t>
                </a:r>
              </a:p>
            </p:txBody>
          </p:sp>
          <p:sp>
            <p:nvSpPr>
              <p:cNvPr id="10" name="Line 10">
                <a:extLst>
                  <a:ext uri="{FF2B5EF4-FFF2-40B4-BE49-F238E27FC236}">
                    <a16:creationId xmlns:a16="http://schemas.microsoft.com/office/drawing/2014/main" id="{37A9D17D-3FCB-260C-5F1B-9295E450AE38}"/>
                  </a:ext>
                </a:extLst>
              </p:cNvPr>
              <p:cNvSpPr>
                <a:spLocks noChangeShapeType="1"/>
              </p:cNvSpPr>
              <p:nvPr/>
            </p:nvSpPr>
            <p:spPr bwMode="auto">
              <a:xfrm>
                <a:off x="2290" y="2818"/>
                <a:ext cx="11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 name="Text Box 11">
              <a:extLst>
                <a:ext uri="{FF2B5EF4-FFF2-40B4-BE49-F238E27FC236}">
                  <a16:creationId xmlns:a16="http://schemas.microsoft.com/office/drawing/2014/main" id="{2456A94C-9D93-36C8-B528-69536A85040F}"/>
                </a:ext>
              </a:extLst>
            </p:cNvPr>
            <p:cNvSpPr txBox="1">
              <a:spLocks noChangeArrowheads="1"/>
            </p:cNvSpPr>
            <p:nvPr/>
          </p:nvSpPr>
          <p:spPr bwMode="auto">
            <a:xfrm>
              <a:off x="3424" y="2659"/>
              <a:ext cx="9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000">
                  <a:latin typeface="Times New Roman" panose="02020603050405020304" pitchFamily="18" charset="0"/>
                  <a:ea typeface="宋体" panose="02010600030101010101" pitchFamily="2" charset="-122"/>
                </a:rPr>
                <a:t>（赫兹）</a:t>
              </a:r>
            </a:p>
          </p:txBody>
        </p:sp>
      </p:grpSp>
      <p:pic>
        <p:nvPicPr>
          <p:cNvPr id="30" name="图片 29">
            <a:extLst>
              <a:ext uri="{FF2B5EF4-FFF2-40B4-BE49-F238E27FC236}">
                <a16:creationId xmlns:a16="http://schemas.microsoft.com/office/drawing/2014/main" id="{92A1EC39-D4FB-3D81-9235-9E6A832B0FFB}"/>
              </a:ext>
            </a:extLst>
          </p:cNvPr>
          <p:cNvPicPr>
            <a:picLocks noChangeAspect="1"/>
          </p:cNvPicPr>
          <p:nvPr/>
        </p:nvPicPr>
        <p:blipFill>
          <a:blip r:embed="rId3"/>
          <a:stretch>
            <a:fillRect/>
          </a:stretch>
        </p:blipFill>
        <p:spPr>
          <a:xfrm>
            <a:off x="162448" y="4036478"/>
            <a:ext cx="8802040" cy="2028247"/>
          </a:xfrm>
          <a:prstGeom prst="rect">
            <a:avLst/>
          </a:prstGeom>
        </p:spPr>
      </p:pic>
    </p:spTree>
    <p:extLst>
      <p:ext uri="{BB962C8B-B14F-4D97-AF65-F5344CB8AC3E}">
        <p14:creationId xmlns:p14="http://schemas.microsoft.com/office/powerpoint/2010/main" val="3420156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BCA399-8F1B-6E42-F4E8-09CDD7DF4086}"/>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r>
              <a:rPr lang="en-US" altLang="zh-CN"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路径损耗</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4065A320-1063-C9CE-DF22-06E43819B392}"/>
              </a:ext>
            </a:extLst>
          </p:cNvPr>
          <p:cNvSpPr txBox="1"/>
          <p:nvPr/>
        </p:nvSpPr>
        <p:spPr>
          <a:xfrm>
            <a:off x="395537" y="980728"/>
            <a:ext cx="8490098" cy="6259855"/>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lang="zh-CN" altLang="en-US" dirty="0">
                <a:latin typeface="+mn-ea"/>
              </a:rPr>
              <a:t>路径损耗：</a:t>
            </a:r>
            <a:r>
              <a:rPr lang="zh-CN" altLang="en-US" b="0" i="0" dirty="0">
                <a:solidFill>
                  <a:srgbClr val="333333"/>
                </a:solidFill>
                <a:effectLst/>
                <a:latin typeface="PingFang SC"/>
              </a:rPr>
              <a:t>或称传播损耗，指电波在空间传播所产生的损耗，是由发射功率的辐射扩散及信道的传播特性造成的，反映宏观范围内接收信号功率均值的变化</a:t>
            </a:r>
            <a:endParaRPr lang="en-US" altLang="zh-CN" dirty="0">
              <a:solidFill>
                <a:srgbClr val="000000"/>
              </a:solidFill>
              <a:latin typeface="+mn-ea"/>
              <a:sym typeface="+mn-ea"/>
            </a:endParaRPr>
          </a:p>
          <a:p>
            <a:pPr marL="285750" indent="-285750" algn="l">
              <a:lnSpc>
                <a:spcPct val="150000"/>
              </a:lnSpc>
              <a:buFont typeface="Wingdings" panose="05000000000000000000" pitchFamily="2" charset="2"/>
              <a:buChar char="Ø"/>
            </a:pPr>
            <a:r>
              <a:rPr lang="zh-CN" altLang="en-US" dirty="0">
                <a:solidFill>
                  <a:srgbClr val="000000"/>
                </a:solidFill>
                <a:latin typeface="+mn-ea"/>
                <a:sym typeface="+mn-ea"/>
              </a:rPr>
              <a:t>大尺度路径损耗：</a:t>
            </a:r>
            <a:r>
              <a:rPr lang="zh-CN" altLang="en-US" dirty="0">
                <a:solidFill>
                  <a:srgbClr val="000000"/>
                </a:solidFill>
                <a:latin typeface="+mn-ea"/>
              </a:rPr>
              <a:t>用于测量发射机与接收机之间信号的平均衰落，即定义为有效发射功率和平均接收功率之间的（</a:t>
            </a:r>
            <a:r>
              <a:rPr lang="en-US" altLang="zh-CN" dirty="0">
                <a:solidFill>
                  <a:srgbClr val="000000"/>
                </a:solidFill>
                <a:latin typeface="+mn-ea"/>
              </a:rPr>
              <a:t>dB</a:t>
            </a:r>
            <a:r>
              <a:rPr lang="zh-CN" altLang="en-US" dirty="0">
                <a:solidFill>
                  <a:srgbClr val="000000"/>
                </a:solidFill>
                <a:latin typeface="+mn-ea"/>
              </a:rPr>
              <a:t>）差值。根据理论和测试的传播模型，无论室内或室外信道，平均接收信号功率随距离对数衰减，这种模型已被广泛地使用，对任意的传输距离，有表达式如下：其中</a:t>
            </a:r>
            <a:r>
              <a:rPr lang="en-US" altLang="zh-CN" dirty="0"/>
              <a:t>n </a:t>
            </a:r>
            <a:r>
              <a:rPr lang="zh-CN" altLang="en-US" dirty="0"/>
              <a:t>为路径损耗指数，表明路径损耗随距离增长的速度；</a:t>
            </a:r>
            <a:r>
              <a:rPr lang="en-US" altLang="zh-CN" dirty="0"/>
              <a:t>d0</a:t>
            </a:r>
            <a:r>
              <a:rPr lang="zh-CN" altLang="en-US" dirty="0"/>
              <a:t>为近地参考距离；</a:t>
            </a:r>
            <a:r>
              <a:rPr lang="en-US" altLang="zh-CN" dirty="0"/>
              <a:t>d </a:t>
            </a:r>
            <a:r>
              <a:rPr lang="zh-CN" altLang="en-US" dirty="0"/>
              <a:t>为发射机与接收机（</a:t>
            </a:r>
            <a:r>
              <a:rPr lang="en-US" altLang="zh-CN" dirty="0"/>
              <a:t>T-R</a:t>
            </a:r>
            <a:r>
              <a:rPr lang="zh-CN" altLang="en-US" dirty="0"/>
              <a:t>）之间的距离。</a:t>
            </a:r>
            <a:endParaRPr lang="en-US" altLang="zh-CN" dirty="0">
              <a:solidFill>
                <a:srgbClr val="000000"/>
              </a:solidFill>
              <a:latin typeface="+mn-ea"/>
            </a:endParaRPr>
          </a:p>
          <a:p>
            <a:pPr marL="285750" indent="-285750" algn="l">
              <a:lnSpc>
                <a:spcPct val="150000"/>
              </a:lnSpc>
              <a:buFont typeface="Wingdings" panose="05000000000000000000" pitchFamily="2" charset="2"/>
              <a:buChar char="Ø"/>
            </a:pPr>
            <a:endParaRPr lang="en-US" altLang="zh-CN" dirty="0">
              <a:solidFill>
                <a:srgbClr val="000000"/>
              </a:solidFill>
              <a:latin typeface="+mn-ea"/>
            </a:endParaRPr>
          </a:p>
          <a:p>
            <a:pPr marL="285750" indent="-285750" algn="l">
              <a:lnSpc>
                <a:spcPct val="150000"/>
              </a:lnSpc>
              <a:buFont typeface="Wingdings" panose="05000000000000000000" pitchFamily="2" charset="2"/>
              <a:buChar char="Ø"/>
            </a:pPr>
            <a:endParaRPr lang="en-US" altLang="zh-CN" dirty="0">
              <a:solidFill>
                <a:srgbClr val="000000"/>
              </a:solidFill>
              <a:latin typeface="+mn-ea"/>
            </a:endParaRPr>
          </a:p>
          <a:p>
            <a:pPr marL="285750" indent="-285750" algn="l">
              <a:lnSpc>
                <a:spcPct val="150000"/>
              </a:lnSpc>
              <a:buFont typeface="Wingdings" panose="05000000000000000000" pitchFamily="2" charset="2"/>
              <a:buChar char="Ø"/>
            </a:pPr>
            <a:endParaRPr lang="en-US" altLang="zh-CN" dirty="0">
              <a:solidFill>
                <a:srgbClr val="000000"/>
              </a:solidFill>
              <a:latin typeface="+mn-ea"/>
            </a:endParaRPr>
          </a:p>
          <a:p>
            <a:pPr marL="285750" indent="-285750" algn="l">
              <a:lnSpc>
                <a:spcPct val="150000"/>
              </a:lnSpc>
              <a:buFont typeface="Wingdings" panose="05000000000000000000" pitchFamily="2" charset="2"/>
              <a:buChar char="Ø"/>
            </a:pPr>
            <a:r>
              <a:rPr lang="zh-CN" altLang="en-US" dirty="0">
                <a:solidFill>
                  <a:srgbClr val="000000"/>
                </a:solidFill>
                <a:latin typeface="+mn-ea"/>
              </a:rPr>
              <a:t> 大尺度衰落模型</a:t>
            </a:r>
            <a:endParaRPr lang="en-US" altLang="zh-CN" dirty="0">
              <a:solidFill>
                <a:srgbClr val="000000"/>
              </a:solidFill>
              <a:latin typeface="+mn-ea"/>
            </a:endParaRPr>
          </a:p>
          <a:p>
            <a:pPr>
              <a:lnSpc>
                <a:spcPct val="150000"/>
              </a:lnSpc>
            </a:pPr>
            <a:r>
              <a:rPr lang="en-US" altLang="zh-CN" dirty="0">
                <a:solidFill>
                  <a:srgbClr val="000000"/>
                </a:solidFill>
                <a:latin typeface="+mn-ea"/>
              </a:rPr>
              <a:t>    </a:t>
            </a:r>
            <a:r>
              <a:rPr lang="zh-CN" altLang="en-US" dirty="0">
                <a:latin typeface="+mn-ea"/>
                <a:sym typeface="+mn-ea"/>
              </a:rPr>
              <a:t>（</a:t>
            </a:r>
            <a:r>
              <a:rPr lang="en-US" altLang="zh-CN" dirty="0">
                <a:latin typeface="+mn-ea"/>
                <a:sym typeface="+mn-ea"/>
              </a:rPr>
              <a:t>a</a:t>
            </a:r>
            <a:r>
              <a:rPr lang="zh-CN" altLang="en-US" dirty="0">
                <a:latin typeface="+mn-ea"/>
                <a:sym typeface="+mn-ea"/>
              </a:rPr>
              <a:t>）自由空间模型（略）</a:t>
            </a:r>
            <a:r>
              <a:rPr lang="en-US" altLang="zh-CN" dirty="0">
                <a:latin typeface="+mn-ea"/>
                <a:sym typeface="+mn-ea"/>
              </a:rPr>
              <a:t>	</a:t>
            </a:r>
            <a:r>
              <a:rPr lang="zh-CN" altLang="en-US" dirty="0">
                <a:latin typeface="+mn-ea"/>
                <a:sym typeface="+mn-ea"/>
              </a:rPr>
              <a:t>（</a:t>
            </a:r>
            <a:r>
              <a:rPr lang="en-US" altLang="zh-CN" dirty="0">
                <a:latin typeface="+mn-ea"/>
                <a:sym typeface="+mn-ea"/>
              </a:rPr>
              <a:t>b</a:t>
            </a:r>
            <a:r>
              <a:rPr lang="zh-CN" altLang="en-US" dirty="0">
                <a:latin typeface="+mn-ea"/>
                <a:sym typeface="+mn-ea"/>
              </a:rPr>
              <a:t>）布灵顿模型（略）</a:t>
            </a:r>
            <a:endParaRPr lang="en-US" altLang="zh-CN" dirty="0">
              <a:latin typeface="+mn-ea"/>
              <a:sym typeface="+mn-ea"/>
            </a:endParaRPr>
          </a:p>
          <a:p>
            <a:pPr>
              <a:lnSpc>
                <a:spcPct val="150000"/>
              </a:lnSpc>
            </a:pPr>
            <a:r>
              <a:rPr lang="en-US" altLang="zh-CN" dirty="0">
                <a:latin typeface="+mn-ea"/>
                <a:sym typeface="+mn-ea"/>
              </a:rPr>
              <a:t>	</a:t>
            </a:r>
            <a:r>
              <a:rPr lang="zh-CN" altLang="en-US" dirty="0">
                <a:latin typeface="+mn-ea"/>
                <a:sym typeface="+mn-ea"/>
              </a:rPr>
              <a:t>（</a:t>
            </a:r>
            <a:r>
              <a:rPr lang="en-US" altLang="zh-CN" dirty="0">
                <a:latin typeface="+mn-ea"/>
                <a:sym typeface="+mn-ea"/>
              </a:rPr>
              <a:t>c</a:t>
            </a:r>
            <a:r>
              <a:rPr lang="zh-CN" altLang="en-US" dirty="0">
                <a:latin typeface="+mn-ea"/>
                <a:sym typeface="+mn-ea"/>
              </a:rPr>
              <a:t>）</a:t>
            </a:r>
            <a:r>
              <a:rPr lang="en-US" altLang="zh-CN" dirty="0" err="1">
                <a:latin typeface="+mn-ea"/>
                <a:sym typeface="+mn-ea"/>
              </a:rPr>
              <a:t>EgLi</a:t>
            </a:r>
            <a:r>
              <a:rPr lang="zh-CN" altLang="en-US" dirty="0">
                <a:latin typeface="+mn-ea"/>
                <a:sym typeface="+mn-ea"/>
              </a:rPr>
              <a:t>模型（略）</a:t>
            </a:r>
            <a:r>
              <a:rPr lang="en-US" altLang="zh-CN" dirty="0">
                <a:latin typeface="+mn-ea"/>
                <a:sym typeface="+mn-ea"/>
              </a:rPr>
              <a:t>	</a:t>
            </a:r>
            <a:r>
              <a:rPr lang="zh-CN" altLang="en-US" dirty="0">
                <a:latin typeface="+mn-ea"/>
                <a:sym typeface="+mn-ea"/>
              </a:rPr>
              <a:t>（</a:t>
            </a:r>
            <a:r>
              <a:rPr lang="en-US" altLang="zh-CN" dirty="0">
                <a:latin typeface="+mn-ea"/>
                <a:sym typeface="+mn-ea"/>
              </a:rPr>
              <a:t>d</a:t>
            </a:r>
            <a:r>
              <a:rPr lang="zh-CN" altLang="en-US" dirty="0">
                <a:latin typeface="+mn-ea"/>
                <a:sym typeface="+mn-ea"/>
              </a:rPr>
              <a:t>）</a:t>
            </a:r>
            <a:r>
              <a:rPr lang="en-US" altLang="zh-CN" dirty="0" err="1">
                <a:latin typeface="+mn-ea"/>
                <a:sym typeface="+mn-ea"/>
              </a:rPr>
              <a:t>Hata</a:t>
            </a:r>
            <a:r>
              <a:rPr lang="en-US" altLang="zh-CN" dirty="0">
                <a:latin typeface="+mn-ea"/>
                <a:sym typeface="+mn-ea"/>
              </a:rPr>
              <a:t>-Okumura</a:t>
            </a:r>
            <a:r>
              <a:rPr lang="zh-CN" altLang="en-US" dirty="0">
                <a:latin typeface="+mn-ea"/>
                <a:sym typeface="+mn-ea"/>
              </a:rPr>
              <a:t>模型（略）</a:t>
            </a:r>
            <a:endParaRPr lang="en-US" altLang="zh-CN" dirty="0">
              <a:latin typeface="+mn-ea"/>
              <a:sym typeface="+mn-ea"/>
            </a:endParaRPr>
          </a:p>
          <a:p>
            <a:pPr algn="l">
              <a:lnSpc>
                <a:spcPct val="150000"/>
              </a:lnSpc>
            </a:pPr>
            <a:endParaRPr lang="en-US" altLang="zh-CN" dirty="0">
              <a:solidFill>
                <a:srgbClr val="000000"/>
              </a:solidFill>
              <a:latin typeface="+mn-ea"/>
            </a:endParaRPr>
          </a:p>
          <a:p>
            <a:pPr marL="285750" indent="-285750">
              <a:lnSpc>
                <a:spcPct val="150000"/>
              </a:lnSpc>
              <a:buFont typeface="Wingdings" panose="05000000000000000000" pitchFamily="2" charset="2"/>
              <a:buChar char="Ø"/>
            </a:pPr>
            <a:endParaRPr lang="zh-CN" altLang="en-US" dirty="0">
              <a:latin typeface="+mn-ea"/>
            </a:endParaRPr>
          </a:p>
        </p:txBody>
      </p:sp>
      <p:sp>
        <p:nvSpPr>
          <p:cNvPr id="5" name="文本框 4">
            <a:extLst>
              <a:ext uri="{FF2B5EF4-FFF2-40B4-BE49-F238E27FC236}">
                <a16:creationId xmlns:a16="http://schemas.microsoft.com/office/drawing/2014/main" id="{31FF247F-A496-E413-3DC0-46005CEC03B5}"/>
              </a:ext>
            </a:extLst>
          </p:cNvPr>
          <p:cNvSpPr txBox="1"/>
          <p:nvPr/>
        </p:nvSpPr>
        <p:spPr>
          <a:xfrm>
            <a:off x="683568" y="4318405"/>
            <a:ext cx="4572000" cy="1273875"/>
          </a:xfrm>
          <a:prstGeom prst="rect">
            <a:avLst/>
          </a:prstGeom>
          <a:noFill/>
        </p:spPr>
        <p:txBody>
          <a:bodyPr wrap="square">
            <a:spAutoFit/>
          </a:bodyPr>
          <a:lstStyle/>
          <a:p>
            <a:pPr algn="l">
              <a:lnSpc>
                <a:spcPct val="150000"/>
              </a:lnSpc>
            </a:pPr>
            <a:r>
              <a:rPr lang="zh-CN" altLang="en-US" dirty="0">
                <a:solidFill>
                  <a:srgbClr val="000000"/>
                </a:solidFill>
                <a:latin typeface="+mn-ea"/>
                <a:sym typeface="+mn-ea"/>
              </a:rPr>
              <a:t>平均接收功率：</a:t>
            </a:r>
            <a:endParaRPr lang="en-US" altLang="zh-CN" dirty="0">
              <a:solidFill>
                <a:srgbClr val="000000"/>
              </a:solidFill>
              <a:latin typeface="+mn-ea"/>
              <a:sym typeface="+mn-ea"/>
            </a:endParaRPr>
          </a:p>
          <a:p>
            <a:pPr>
              <a:lnSpc>
                <a:spcPct val="150000"/>
              </a:lnSpc>
            </a:pPr>
            <a:r>
              <a:rPr lang="zh-CN" altLang="en-US" dirty="0">
                <a:solidFill>
                  <a:srgbClr val="000000"/>
                </a:solidFill>
                <a:latin typeface="+mn-ea"/>
                <a:sym typeface="+mn-ea"/>
              </a:rPr>
              <a:t>平均路径损耗：</a:t>
            </a:r>
            <a:endParaRPr lang="en-US" altLang="zh-CN" dirty="0">
              <a:solidFill>
                <a:srgbClr val="000000"/>
              </a:solidFill>
              <a:latin typeface="+mn-ea"/>
              <a:sym typeface="+mn-ea"/>
            </a:endParaRPr>
          </a:p>
          <a:p>
            <a:pPr>
              <a:lnSpc>
                <a:spcPct val="150000"/>
              </a:lnSpc>
            </a:pPr>
            <a:endParaRPr lang="en-US" altLang="zh-CN" dirty="0">
              <a:solidFill>
                <a:srgbClr val="000000"/>
              </a:solidFill>
              <a:latin typeface="+mn-ea"/>
              <a:sym typeface="+mn-ea"/>
            </a:endParaRPr>
          </a:p>
        </p:txBody>
      </p:sp>
      <p:pic>
        <p:nvPicPr>
          <p:cNvPr id="6" name="图片 5">
            <a:extLst>
              <a:ext uri="{FF2B5EF4-FFF2-40B4-BE49-F238E27FC236}">
                <a16:creationId xmlns:a16="http://schemas.microsoft.com/office/drawing/2014/main" id="{B78EFFB5-DFCD-5C97-2A75-1EA93D0D41E5}"/>
              </a:ext>
            </a:extLst>
          </p:cNvPr>
          <p:cNvPicPr>
            <a:picLocks noChangeAspect="1"/>
          </p:cNvPicPr>
          <p:nvPr/>
        </p:nvPicPr>
        <p:blipFill>
          <a:blip r:embed="rId3"/>
          <a:stretch>
            <a:fillRect/>
          </a:stretch>
        </p:blipFill>
        <p:spPr>
          <a:xfrm>
            <a:off x="2420390" y="4365104"/>
            <a:ext cx="6465245" cy="640721"/>
          </a:xfrm>
          <a:prstGeom prst="rect">
            <a:avLst/>
          </a:prstGeom>
        </p:spPr>
      </p:pic>
      <p:pic>
        <p:nvPicPr>
          <p:cNvPr id="7" name="图片 6">
            <a:extLst>
              <a:ext uri="{FF2B5EF4-FFF2-40B4-BE49-F238E27FC236}">
                <a16:creationId xmlns:a16="http://schemas.microsoft.com/office/drawing/2014/main" id="{CFAF7374-964B-557F-8C9A-E1399AFB009C}"/>
              </a:ext>
            </a:extLst>
          </p:cNvPr>
          <p:cNvPicPr>
            <a:picLocks noChangeAspect="1"/>
          </p:cNvPicPr>
          <p:nvPr/>
        </p:nvPicPr>
        <p:blipFill>
          <a:blip r:embed="rId4"/>
          <a:stretch>
            <a:fillRect/>
          </a:stretch>
        </p:blipFill>
        <p:spPr>
          <a:xfrm>
            <a:off x="2517506" y="4939026"/>
            <a:ext cx="3503284" cy="509259"/>
          </a:xfrm>
          <a:prstGeom prst="rect">
            <a:avLst/>
          </a:prstGeom>
        </p:spPr>
      </p:pic>
    </p:spTree>
    <p:extLst>
      <p:ext uri="{BB962C8B-B14F-4D97-AF65-F5344CB8AC3E}">
        <p14:creationId xmlns:p14="http://schemas.microsoft.com/office/powerpoint/2010/main" val="2014338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4CF9C9A-38F2-1096-EB5F-9AD30CDA61A6}"/>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r>
              <a:rPr lang="en-US" altLang="zh-CN"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路径损耗</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2F060BAF-32A1-3D8B-4239-3FC1BCADDDEB}"/>
              </a:ext>
            </a:extLst>
          </p:cNvPr>
          <p:cNvSpPr txBox="1"/>
          <p:nvPr/>
        </p:nvSpPr>
        <p:spPr>
          <a:xfrm>
            <a:off x="395536" y="793275"/>
            <a:ext cx="8424936" cy="1039541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sz="1600" dirty="0">
                <a:ea typeface="宋体" panose="02010600030101010101" pitchFamily="2" charset="-122"/>
              </a:rPr>
              <a:t> </a:t>
            </a:r>
            <a:r>
              <a:rPr lang="zh-CN" altLang="en-US" sz="1600" dirty="0">
                <a:ea typeface="宋体" panose="02010600030101010101" pitchFamily="2" charset="-122"/>
              </a:rPr>
              <a:t>自由空间模型：</a:t>
            </a:r>
            <a:r>
              <a:rPr lang="zh-CN" altLang="en-US" sz="1600" dirty="0"/>
              <a:t> </a:t>
            </a:r>
            <a:r>
              <a:rPr lang="en-US" altLang="zh-CN" sz="1600" dirty="0" err="1"/>
              <a:t>Lp</a:t>
            </a:r>
            <a:r>
              <a:rPr lang="en-US" altLang="zh-CN" sz="1600" dirty="0"/>
              <a:t> </a:t>
            </a:r>
            <a:r>
              <a:rPr lang="zh-CN" altLang="en-US" sz="1600" dirty="0"/>
              <a:t>是以 </a:t>
            </a:r>
            <a:r>
              <a:rPr lang="en-US" altLang="zh-CN" sz="1600" dirty="0"/>
              <a:t>dB </a:t>
            </a:r>
            <a:r>
              <a:rPr lang="zh-CN" altLang="en-US" sz="1600" dirty="0"/>
              <a:t>为单位的路径损耗，</a:t>
            </a:r>
            <a:r>
              <a:rPr lang="en-US" altLang="zh-CN" sz="1600" dirty="0"/>
              <a:t>d </a:t>
            </a:r>
            <a:r>
              <a:rPr lang="zh-CN" altLang="en-US" sz="1600" dirty="0"/>
              <a:t>是以公里为单位的移动台与基站之间的距离，</a:t>
            </a:r>
            <a:r>
              <a:rPr lang="en-US" altLang="zh-CN" sz="1600" dirty="0"/>
              <a:t>f </a:t>
            </a:r>
            <a:r>
              <a:rPr lang="zh-CN" altLang="en-US" sz="1600" dirty="0"/>
              <a:t>是以 </a:t>
            </a:r>
            <a:r>
              <a:rPr lang="en-US" altLang="zh-CN" sz="1600" dirty="0"/>
              <a:t>MHz </a:t>
            </a:r>
            <a:r>
              <a:rPr lang="zh-CN" altLang="en-US" sz="1600" dirty="0"/>
              <a:t>为单位的移动工作频点或工作频段的频率</a:t>
            </a:r>
            <a:endParaRPr lang="en-US" altLang="zh-CN" sz="1600" dirty="0">
              <a:ea typeface="宋体" panose="02010600030101010101" pitchFamily="2" charset="-122"/>
            </a:endParaRPr>
          </a:p>
          <a:p>
            <a:pPr>
              <a:lnSpc>
                <a:spcPct val="150000"/>
              </a:lnSpc>
            </a:pPr>
            <a:r>
              <a:rPr lang="en-US" altLang="zh-CN" sz="1600" dirty="0">
                <a:ea typeface="宋体" panose="02010600030101010101" pitchFamily="2" charset="-122"/>
              </a:rPr>
              <a:t>      </a:t>
            </a:r>
            <a:r>
              <a:rPr lang="en-US" altLang="zh-CN" sz="1600" dirty="0" err="1"/>
              <a:t>Lp</a:t>
            </a:r>
            <a:r>
              <a:rPr lang="zh-CN" altLang="en-US" sz="1600" dirty="0"/>
              <a:t>＝</a:t>
            </a:r>
            <a:r>
              <a:rPr lang="en-US" altLang="zh-CN" sz="1600" dirty="0"/>
              <a:t>32.4+20Lgd+20Lgf</a:t>
            </a: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r>
              <a:rPr lang="zh-CN" altLang="en-US" sz="1600" dirty="0">
                <a:ea typeface="宋体" panose="02010600030101010101" pitchFamily="2" charset="-122"/>
              </a:rPr>
              <a:t>布灵顿模型：</a:t>
            </a:r>
            <a:r>
              <a:rPr lang="zh-CN" altLang="en-US" sz="1600" dirty="0"/>
              <a:t>假设发射天线和移动台之间的地面是理想平面大地，并且两者之间的距离 </a:t>
            </a:r>
            <a:r>
              <a:rPr lang="en-US" altLang="zh-CN" sz="1600" dirty="0"/>
              <a:t>d </a:t>
            </a:r>
            <a:r>
              <a:rPr lang="zh-CN" altLang="en-US" sz="1600" dirty="0"/>
              <a:t>远大于发射天线的高度 </a:t>
            </a:r>
            <a:r>
              <a:rPr lang="en-US" altLang="zh-CN" sz="1600" dirty="0" err="1"/>
              <a:t>ht</a:t>
            </a:r>
            <a:r>
              <a:rPr lang="en-US" altLang="zh-CN" sz="1600" dirty="0"/>
              <a:t> </a:t>
            </a:r>
            <a:r>
              <a:rPr lang="zh-CN" altLang="en-US" sz="1600" dirty="0"/>
              <a:t>或移动台的高度 </a:t>
            </a:r>
            <a:r>
              <a:rPr lang="en-US" altLang="zh-CN" sz="1600" dirty="0" err="1"/>
              <a:t>hr</a:t>
            </a:r>
            <a:r>
              <a:rPr lang="zh-CN" altLang="en-US" sz="1600" dirty="0"/>
              <a:t>，此时的路径损耗计算公式如下，其中距离 </a:t>
            </a:r>
            <a:r>
              <a:rPr lang="en-US" altLang="zh-CN" sz="1600" dirty="0"/>
              <a:t>d </a:t>
            </a:r>
            <a:r>
              <a:rPr lang="zh-CN" altLang="en-US" sz="1600" dirty="0"/>
              <a:t>的单位是公里，天线高度 </a:t>
            </a:r>
            <a:r>
              <a:rPr lang="en-US" altLang="zh-CN" sz="1600" dirty="0" err="1"/>
              <a:t>ht</a:t>
            </a:r>
            <a:r>
              <a:rPr lang="en-US" altLang="zh-CN" sz="1600" dirty="0"/>
              <a:t> </a:t>
            </a:r>
            <a:r>
              <a:rPr lang="zh-CN" altLang="en-US" sz="1600" dirty="0"/>
              <a:t>及 </a:t>
            </a:r>
            <a:r>
              <a:rPr lang="en-US" altLang="zh-CN" sz="1600" dirty="0" err="1"/>
              <a:t>hr</a:t>
            </a:r>
            <a:r>
              <a:rPr lang="en-US" altLang="zh-CN" sz="1600" dirty="0"/>
              <a:t> </a:t>
            </a:r>
            <a:r>
              <a:rPr lang="zh-CN" altLang="en-US" sz="1600" dirty="0"/>
              <a:t>的单位是米，路径损耗 </a:t>
            </a:r>
            <a:r>
              <a:rPr lang="en-US" altLang="zh-CN" sz="1600" dirty="0" err="1"/>
              <a:t>Lp</a:t>
            </a:r>
            <a:r>
              <a:rPr lang="en-US" altLang="zh-CN" sz="1600" dirty="0"/>
              <a:t> </a:t>
            </a:r>
            <a:r>
              <a:rPr lang="zh-CN" altLang="en-US" sz="1600" dirty="0"/>
              <a:t>的单位是 </a:t>
            </a:r>
            <a:r>
              <a:rPr lang="en-US" altLang="zh-CN" sz="1600" dirty="0"/>
              <a:t>dB</a:t>
            </a:r>
            <a:r>
              <a:rPr lang="zh-CN" altLang="en-US" sz="1600" dirty="0"/>
              <a:t>。系统 设计时一般把接收机高度按典型值 </a:t>
            </a:r>
            <a:r>
              <a:rPr lang="en-US" altLang="zh-CN" sz="1600" dirty="0" err="1"/>
              <a:t>hr</a:t>
            </a:r>
            <a:r>
              <a:rPr lang="zh-CN" altLang="en-US" sz="1600" dirty="0"/>
              <a:t>＝</a:t>
            </a:r>
            <a:r>
              <a:rPr lang="en-US" altLang="zh-CN" sz="1600" dirty="0"/>
              <a:t>1.5m </a:t>
            </a:r>
            <a:r>
              <a:rPr lang="zh-CN" altLang="en-US" sz="1600" dirty="0"/>
              <a:t>处理</a:t>
            </a:r>
            <a:endParaRPr lang="en-US" altLang="zh-CN" sz="1600" dirty="0">
              <a:ea typeface="宋体" panose="02010600030101010101" pitchFamily="2" charset="-122"/>
            </a:endParaRPr>
          </a:p>
          <a:p>
            <a:pPr>
              <a:lnSpc>
                <a:spcPct val="150000"/>
              </a:lnSpc>
            </a:pPr>
            <a:r>
              <a:rPr lang="en-US" altLang="zh-CN" sz="1600" dirty="0"/>
              <a:t>      </a:t>
            </a:r>
            <a:r>
              <a:rPr lang="en-US" altLang="zh-CN" sz="1600" dirty="0" err="1"/>
              <a:t>Lp</a:t>
            </a:r>
            <a:r>
              <a:rPr lang="zh-CN" altLang="en-US" sz="1600" dirty="0"/>
              <a:t>＝</a:t>
            </a:r>
            <a:r>
              <a:rPr lang="en-US" altLang="zh-CN" sz="1600" dirty="0"/>
              <a:t>120+40Lgd-20Lght-20Lghr </a:t>
            </a: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r>
              <a:rPr lang="en-US" altLang="zh-CN" sz="1600" dirty="0" err="1"/>
              <a:t>EgLi</a:t>
            </a:r>
            <a:r>
              <a:rPr lang="en-US" altLang="zh-CN" sz="1600" dirty="0"/>
              <a:t> </a:t>
            </a:r>
            <a:r>
              <a:rPr lang="zh-CN" altLang="en-US" sz="1600" dirty="0"/>
              <a:t>模型：是 从大量实测结果中归纳出来的中值预测公式，属于经验模型，其计算式为：如下，其中路径损耗 </a:t>
            </a:r>
            <a:r>
              <a:rPr lang="en-US" altLang="zh-CN" sz="1600" dirty="0" err="1"/>
              <a:t>Lp</a:t>
            </a:r>
            <a:r>
              <a:rPr lang="en-US" altLang="zh-CN" sz="1600" dirty="0"/>
              <a:t> </a:t>
            </a:r>
            <a:r>
              <a:rPr lang="zh-CN" altLang="en-US" sz="1600" dirty="0"/>
              <a:t>的单位是 </a:t>
            </a:r>
            <a:r>
              <a:rPr lang="en-US" altLang="zh-CN" sz="1600" dirty="0"/>
              <a:t>dB</a:t>
            </a:r>
            <a:r>
              <a:rPr lang="zh-CN" altLang="en-US" sz="1600" dirty="0"/>
              <a:t>，距离 </a:t>
            </a:r>
            <a:r>
              <a:rPr lang="en-US" altLang="zh-CN" sz="1600" dirty="0"/>
              <a:t>d </a:t>
            </a:r>
            <a:r>
              <a:rPr lang="zh-CN" altLang="en-US" sz="1600" dirty="0"/>
              <a:t>的单位是公里，天线高度 </a:t>
            </a:r>
            <a:r>
              <a:rPr lang="en-US" altLang="zh-CN" sz="1600" dirty="0" err="1"/>
              <a:t>ht</a:t>
            </a:r>
            <a:r>
              <a:rPr lang="en-US" altLang="zh-CN" sz="1600" dirty="0"/>
              <a:t> </a:t>
            </a:r>
            <a:r>
              <a:rPr lang="zh-CN" altLang="en-US" sz="1600" dirty="0"/>
              <a:t>及 </a:t>
            </a:r>
            <a:r>
              <a:rPr lang="en-US" altLang="zh-CN" sz="1600" dirty="0" err="1"/>
              <a:t>hr</a:t>
            </a:r>
            <a:r>
              <a:rPr lang="en-US" altLang="zh-CN" sz="1600" dirty="0"/>
              <a:t> </a:t>
            </a:r>
            <a:r>
              <a:rPr lang="zh-CN" altLang="en-US" sz="1600" dirty="0"/>
              <a:t>的单位是米，工作 频率 </a:t>
            </a:r>
            <a:r>
              <a:rPr lang="en-US" altLang="zh-CN" sz="1600" dirty="0"/>
              <a:t>f </a:t>
            </a:r>
            <a:r>
              <a:rPr lang="zh-CN" altLang="en-US" sz="1600" dirty="0"/>
              <a:t>的单位是 </a:t>
            </a:r>
            <a:r>
              <a:rPr lang="en-US" altLang="zh-CN" sz="1600" dirty="0"/>
              <a:t>MHz</a:t>
            </a:r>
            <a:r>
              <a:rPr lang="zh-CN" altLang="en-US" sz="1600" dirty="0"/>
              <a:t>，地形修正因子 </a:t>
            </a:r>
            <a:r>
              <a:rPr lang="en-US" altLang="zh-CN" sz="1600" dirty="0"/>
              <a:t>G </a:t>
            </a:r>
            <a:r>
              <a:rPr lang="zh-CN" altLang="en-US" sz="1600" dirty="0"/>
              <a:t>的单位为 </a:t>
            </a:r>
            <a:r>
              <a:rPr lang="en-US" altLang="zh-CN" sz="1600" dirty="0"/>
              <a:t>dB</a:t>
            </a:r>
            <a:r>
              <a:rPr lang="zh-CN" altLang="en-US" sz="1600" dirty="0"/>
              <a:t>。</a:t>
            </a:r>
            <a:r>
              <a:rPr lang="en-US" altLang="zh-CN" sz="1600" dirty="0"/>
              <a:t>G </a:t>
            </a:r>
            <a:r>
              <a:rPr lang="zh-CN" altLang="en-US" sz="1600" dirty="0"/>
              <a:t>反应了地形因素对路径损耗的影响。 </a:t>
            </a:r>
            <a:r>
              <a:rPr lang="en-US" altLang="zh-CN" sz="1600" dirty="0" err="1"/>
              <a:t>EgLi</a:t>
            </a:r>
            <a:r>
              <a:rPr lang="en-US" altLang="zh-CN" sz="1600" dirty="0"/>
              <a:t> </a:t>
            </a:r>
            <a:r>
              <a:rPr lang="zh-CN" altLang="en-US" sz="1600" dirty="0"/>
              <a:t>模型认为路径损耗同接收点的地形起伏程度 </a:t>
            </a:r>
            <a:r>
              <a:rPr lang="en-US" altLang="zh-CN" sz="1600" dirty="0"/>
              <a:t>Δ</a:t>
            </a:r>
            <a:r>
              <a:rPr lang="zh-CN" altLang="en-US" sz="1600" dirty="0"/>
              <a:t> </a:t>
            </a:r>
            <a:r>
              <a:rPr lang="en-US" altLang="zh-CN" sz="1600" dirty="0"/>
              <a:t>h </a:t>
            </a:r>
            <a:r>
              <a:rPr lang="zh-CN" altLang="en-US" sz="1600" dirty="0"/>
              <a:t>有关，地形起伏越大，则路径损耗也 越大。</a:t>
            </a:r>
            <a:r>
              <a:rPr lang="en-US" altLang="zh-CN" sz="1600" dirty="0" err="1"/>
              <a:t>Lp</a:t>
            </a:r>
            <a:r>
              <a:rPr lang="zh-CN" altLang="en-US" sz="1600" dirty="0"/>
              <a:t>＝</a:t>
            </a:r>
            <a:r>
              <a:rPr lang="en-US" altLang="zh-CN" sz="1600" dirty="0"/>
              <a:t>88+40Lgd-20Lght-20Lghr+20Lgf-G </a:t>
            </a: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r>
              <a:rPr lang="en-US" altLang="zh-CN" sz="1600" dirty="0">
                <a:ea typeface="宋体" panose="02010600030101010101" pitchFamily="2" charset="-122"/>
              </a:rPr>
              <a:t> </a:t>
            </a:r>
            <a:r>
              <a:rPr lang="en-US" altLang="zh-CN" sz="1600" dirty="0" err="1"/>
              <a:t>Hata</a:t>
            </a:r>
            <a:r>
              <a:rPr lang="zh-CN" altLang="en-US" sz="1600" dirty="0"/>
              <a:t>－</a:t>
            </a:r>
            <a:r>
              <a:rPr lang="en-US" altLang="zh-CN" sz="1600" dirty="0"/>
              <a:t>Okumura </a:t>
            </a:r>
            <a:r>
              <a:rPr lang="zh-CN" altLang="en-US" sz="1600" dirty="0"/>
              <a:t>模型：是依据实测数据建立的模型。当移动台的高度为典型值 </a:t>
            </a:r>
            <a:r>
              <a:rPr lang="en-US" altLang="zh-CN" sz="1600" dirty="0" err="1"/>
              <a:t>hr</a:t>
            </a:r>
            <a:r>
              <a:rPr lang="zh-CN" altLang="en-US" sz="1600" dirty="0"/>
              <a:t>＝</a:t>
            </a:r>
            <a:r>
              <a:rPr lang="en-US" altLang="zh-CN" sz="1600" dirty="0"/>
              <a:t>1.5m </a:t>
            </a:r>
            <a:r>
              <a:rPr lang="zh-CN" altLang="en-US" sz="1600" dirty="0"/>
              <a:t>时，按 </a:t>
            </a:r>
            <a:r>
              <a:rPr lang="en-US" altLang="zh-CN" sz="1600" dirty="0" err="1"/>
              <a:t>Hata</a:t>
            </a:r>
            <a:r>
              <a:rPr lang="zh-CN" altLang="en-US" sz="1600" dirty="0"/>
              <a:t>－</a:t>
            </a:r>
            <a:r>
              <a:rPr lang="en-US" altLang="zh-CN" sz="1600" dirty="0"/>
              <a:t>Okumura </a:t>
            </a:r>
            <a:r>
              <a:rPr lang="zh-CN" altLang="en-US" sz="1600" dirty="0"/>
              <a:t>模型计算路径损耗的公式为： 市区： </a:t>
            </a:r>
            <a:r>
              <a:rPr lang="en-US" altLang="zh-CN" sz="1600" dirty="0"/>
              <a:t>Lp1</a:t>
            </a:r>
            <a:r>
              <a:rPr lang="zh-CN" altLang="en-US" sz="1600" dirty="0"/>
              <a:t>＝</a:t>
            </a:r>
            <a:r>
              <a:rPr lang="en-US" altLang="zh-CN" sz="1600" dirty="0"/>
              <a:t>69.55+26.2Lgf-13.82ght+(44.9-6.55Lght)</a:t>
            </a:r>
            <a:r>
              <a:rPr lang="en-US" altLang="zh-CN" sz="1600" dirty="0" err="1"/>
              <a:t>Lgd</a:t>
            </a:r>
            <a:r>
              <a:rPr lang="en-US" altLang="zh-CN" sz="1600" dirty="0"/>
              <a:t> </a:t>
            </a:r>
            <a:r>
              <a:rPr lang="zh-CN" altLang="en-US" sz="1600" dirty="0"/>
              <a:t>（</a:t>
            </a:r>
            <a:r>
              <a:rPr lang="en-US" altLang="zh-CN" sz="1600" dirty="0"/>
              <a:t>5-9</a:t>
            </a:r>
            <a:r>
              <a:rPr lang="zh-CN" altLang="en-US" sz="1600" dirty="0"/>
              <a:t>） 开阔地： </a:t>
            </a:r>
            <a:r>
              <a:rPr lang="en-US" altLang="zh-CN" sz="1600" dirty="0"/>
              <a:t>Lp2</a:t>
            </a:r>
            <a:r>
              <a:rPr lang="zh-CN" altLang="en-US" sz="1600" dirty="0"/>
              <a:t>＝</a:t>
            </a:r>
            <a:r>
              <a:rPr lang="en-US" altLang="zh-CN" sz="1600" dirty="0"/>
              <a:t>Lp1-4.78(</a:t>
            </a:r>
            <a:r>
              <a:rPr lang="en-US" altLang="zh-CN" sz="1600" dirty="0" err="1"/>
              <a:t>Lgf</a:t>
            </a:r>
            <a:r>
              <a:rPr lang="en-US" altLang="zh-CN" sz="1600" dirty="0"/>
              <a:t>)²+18.33gf-40.94</a:t>
            </a: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a:p>
            <a:pPr marL="285750" indent="-285750">
              <a:lnSpc>
                <a:spcPct val="150000"/>
              </a:lnSpc>
              <a:buFont typeface="Wingdings" panose="05000000000000000000" pitchFamily="2" charset="2"/>
              <a:buChar char="Ø"/>
            </a:pPr>
            <a:endParaRPr lang="en-US" altLang="zh-CN" sz="1600" dirty="0">
              <a:ea typeface="宋体" panose="02010600030101010101" pitchFamily="2" charset="-122"/>
            </a:endParaRPr>
          </a:p>
        </p:txBody>
      </p:sp>
    </p:spTree>
    <p:extLst>
      <p:ext uri="{BB962C8B-B14F-4D97-AF65-F5344CB8AC3E}">
        <p14:creationId xmlns:p14="http://schemas.microsoft.com/office/powerpoint/2010/main" val="137727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1583AF9-D030-6A12-BF33-AE26BA2863B1}"/>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r>
              <a:rPr lang="en-US" altLang="zh-CN"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阴影衰落</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a:extLst>
              <a:ext uri="{FF2B5EF4-FFF2-40B4-BE49-F238E27FC236}">
                <a16:creationId xmlns:a16="http://schemas.microsoft.com/office/drawing/2014/main" id="{E1623C68-EF88-B23F-3880-7C9E1EED57B6}"/>
              </a:ext>
            </a:extLst>
          </p:cNvPr>
          <p:cNvSpPr txBox="1"/>
          <p:nvPr/>
        </p:nvSpPr>
        <p:spPr>
          <a:xfrm>
            <a:off x="395536" y="702433"/>
            <a:ext cx="8541827" cy="210487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b="0" i="0" dirty="0">
                <a:solidFill>
                  <a:srgbClr val="333333"/>
                </a:solidFill>
                <a:effectLst/>
                <a:latin typeface="PingFang SC"/>
              </a:rPr>
              <a:t>阴影衰落：由发射机和接收机之间的障碍物造成，这些障碍物通过吸收、反射、散射和绕射等方式衰减信号功率，严重时会阻断信号，引起障碍物尺度距离（室外为</a:t>
            </a:r>
            <a:r>
              <a:rPr lang="en-US" altLang="zh-CN" b="0" i="0" dirty="0">
                <a:solidFill>
                  <a:srgbClr val="333333"/>
                </a:solidFill>
                <a:effectLst/>
                <a:latin typeface="PingFang SC"/>
              </a:rPr>
              <a:t>10m~100m</a:t>
            </a:r>
            <a:r>
              <a:rPr lang="zh-CN" altLang="en-US" b="0" i="0" dirty="0">
                <a:solidFill>
                  <a:srgbClr val="333333"/>
                </a:solidFill>
                <a:effectLst/>
                <a:latin typeface="PingFang SC"/>
              </a:rPr>
              <a:t>，室内更小）上的功率变化。</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zh-CN" altLang="en-US" dirty="0">
              <a:latin typeface="+mn-ea"/>
            </a:endParaRPr>
          </a:p>
        </p:txBody>
      </p:sp>
      <p:grpSp>
        <p:nvGrpSpPr>
          <p:cNvPr id="3" name="组合 2">
            <a:extLst>
              <a:ext uri="{FF2B5EF4-FFF2-40B4-BE49-F238E27FC236}">
                <a16:creationId xmlns:a16="http://schemas.microsoft.com/office/drawing/2014/main" id="{739EABB1-BEB3-448B-F56F-C83A6F134F31}"/>
              </a:ext>
            </a:extLst>
          </p:cNvPr>
          <p:cNvGrpSpPr/>
          <p:nvPr/>
        </p:nvGrpSpPr>
        <p:grpSpPr>
          <a:xfrm>
            <a:off x="1043608" y="3379712"/>
            <a:ext cx="7362552" cy="3361656"/>
            <a:chOff x="2126673" y="1870363"/>
            <a:chExt cx="7162800" cy="4019550"/>
          </a:xfrm>
        </p:grpSpPr>
        <p:pic>
          <p:nvPicPr>
            <p:cNvPr id="5" name="Picture 7">
              <a:extLst>
                <a:ext uri="{FF2B5EF4-FFF2-40B4-BE49-F238E27FC236}">
                  <a16:creationId xmlns:a16="http://schemas.microsoft.com/office/drawing/2014/main" id="{F5B229E6-540E-3D19-55E9-188D4C98C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6673" y="1870363"/>
              <a:ext cx="7162800"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a:extLst>
                <a:ext uri="{FF2B5EF4-FFF2-40B4-BE49-F238E27FC236}">
                  <a16:creationId xmlns:a16="http://schemas.microsoft.com/office/drawing/2014/main" id="{BF02D8EB-AA88-AFD5-3187-269018C21B01}"/>
                </a:ext>
              </a:extLst>
            </p:cNvPr>
            <p:cNvSpPr>
              <a:spLocks noChangeArrowheads="1"/>
            </p:cNvSpPr>
            <p:nvPr/>
          </p:nvSpPr>
          <p:spPr bwMode="auto">
            <a:xfrm>
              <a:off x="3879273" y="1946563"/>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散射体</a:t>
              </a:r>
            </a:p>
          </p:txBody>
        </p:sp>
        <p:sp>
          <p:nvSpPr>
            <p:cNvPr id="7" name="Rectangle 9">
              <a:extLst>
                <a:ext uri="{FF2B5EF4-FFF2-40B4-BE49-F238E27FC236}">
                  <a16:creationId xmlns:a16="http://schemas.microsoft.com/office/drawing/2014/main" id="{50ACD1D9-75F0-3749-4852-F76BF6D84B88}"/>
                </a:ext>
              </a:extLst>
            </p:cNvPr>
            <p:cNvSpPr>
              <a:spLocks noChangeArrowheads="1"/>
            </p:cNvSpPr>
            <p:nvPr/>
          </p:nvSpPr>
          <p:spPr bwMode="auto">
            <a:xfrm>
              <a:off x="2431473" y="33181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天线</a:t>
              </a:r>
            </a:p>
          </p:txBody>
        </p:sp>
        <p:sp>
          <p:nvSpPr>
            <p:cNvPr id="8" name="Rectangle 10">
              <a:extLst>
                <a:ext uri="{FF2B5EF4-FFF2-40B4-BE49-F238E27FC236}">
                  <a16:creationId xmlns:a16="http://schemas.microsoft.com/office/drawing/2014/main" id="{B71F26DB-0457-FEE8-AF57-695CEB259064}"/>
                </a:ext>
              </a:extLst>
            </p:cNvPr>
            <p:cNvSpPr>
              <a:spLocks noChangeArrowheads="1"/>
            </p:cNvSpPr>
            <p:nvPr/>
          </p:nvSpPr>
          <p:spPr bwMode="auto">
            <a:xfrm>
              <a:off x="2736273" y="4689763"/>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无线发</a:t>
              </a:r>
            </a:p>
          </p:txBody>
        </p:sp>
        <p:sp>
          <p:nvSpPr>
            <p:cNvPr id="9" name="Rectangle 11">
              <a:extLst>
                <a:ext uri="{FF2B5EF4-FFF2-40B4-BE49-F238E27FC236}">
                  <a16:creationId xmlns:a16="http://schemas.microsoft.com/office/drawing/2014/main" id="{337BD3C4-B0DA-7582-AAD4-9BB340FA12F7}"/>
                </a:ext>
              </a:extLst>
            </p:cNvPr>
            <p:cNvSpPr>
              <a:spLocks noChangeArrowheads="1"/>
            </p:cNvSpPr>
            <p:nvPr/>
          </p:nvSpPr>
          <p:spPr bwMode="auto">
            <a:xfrm>
              <a:off x="5250873" y="54517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地面</a:t>
              </a:r>
            </a:p>
          </p:txBody>
        </p:sp>
        <p:sp>
          <p:nvSpPr>
            <p:cNvPr id="10" name="Rectangle 12">
              <a:extLst>
                <a:ext uri="{FF2B5EF4-FFF2-40B4-BE49-F238E27FC236}">
                  <a16:creationId xmlns:a16="http://schemas.microsoft.com/office/drawing/2014/main" id="{65DA954C-C20E-B063-E7ED-11E10F7B2E4C}"/>
                </a:ext>
              </a:extLst>
            </p:cNvPr>
            <p:cNvSpPr>
              <a:spLocks noChangeArrowheads="1"/>
            </p:cNvSpPr>
            <p:nvPr/>
          </p:nvSpPr>
          <p:spPr bwMode="auto">
            <a:xfrm>
              <a:off x="4869873" y="4156363"/>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障碍物</a:t>
              </a:r>
            </a:p>
          </p:txBody>
        </p:sp>
        <p:sp>
          <p:nvSpPr>
            <p:cNvPr id="11" name="Rectangle 13">
              <a:extLst>
                <a:ext uri="{FF2B5EF4-FFF2-40B4-BE49-F238E27FC236}">
                  <a16:creationId xmlns:a16="http://schemas.microsoft.com/office/drawing/2014/main" id="{09DAD42B-2D4A-482F-89E8-EB63806C260A}"/>
                </a:ext>
              </a:extLst>
            </p:cNvPr>
            <p:cNvSpPr>
              <a:spLocks noChangeArrowheads="1"/>
            </p:cNvSpPr>
            <p:nvPr/>
          </p:nvSpPr>
          <p:spPr bwMode="auto">
            <a:xfrm>
              <a:off x="5860473" y="31657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绕射</a:t>
              </a:r>
            </a:p>
          </p:txBody>
        </p:sp>
        <p:sp>
          <p:nvSpPr>
            <p:cNvPr id="12" name="Rectangle 14">
              <a:extLst>
                <a:ext uri="{FF2B5EF4-FFF2-40B4-BE49-F238E27FC236}">
                  <a16:creationId xmlns:a16="http://schemas.microsoft.com/office/drawing/2014/main" id="{DED1FE17-2B82-C37F-BF43-375E409432C3}"/>
                </a:ext>
              </a:extLst>
            </p:cNvPr>
            <p:cNvSpPr>
              <a:spLocks noChangeArrowheads="1"/>
            </p:cNvSpPr>
            <p:nvPr/>
          </p:nvSpPr>
          <p:spPr bwMode="auto">
            <a:xfrm>
              <a:off x="5860473" y="36991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直射</a:t>
              </a:r>
            </a:p>
          </p:txBody>
        </p:sp>
        <p:sp>
          <p:nvSpPr>
            <p:cNvPr id="13" name="Rectangle 15">
              <a:extLst>
                <a:ext uri="{FF2B5EF4-FFF2-40B4-BE49-F238E27FC236}">
                  <a16:creationId xmlns:a16="http://schemas.microsoft.com/office/drawing/2014/main" id="{86D4C378-68DF-CAAF-F2CE-75C0FA5CE6BC}"/>
                </a:ext>
              </a:extLst>
            </p:cNvPr>
            <p:cNvSpPr>
              <a:spLocks noChangeArrowheads="1"/>
            </p:cNvSpPr>
            <p:nvPr/>
          </p:nvSpPr>
          <p:spPr bwMode="auto">
            <a:xfrm>
              <a:off x="5860473" y="42325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反射</a:t>
              </a:r>
            </a:p>
          </p:txBody>
        </p:sp>
        <p:sp>
          <p:nvSpPr>
            <p:cNvPr id="14" name="Rectangle 16">
              <a:extLst>
                <a:ext uri="{FF2B5EF4-FFF2-40B4-BE49-F238E27FC236}">
                  <a16:creationId xmlns:a16="http://schemas.microsoft.com/office/drawing/2014/main" id="{B190D696-FD74-A078-9A22-4E14FB72B44B}"/>
                </a:ext>
              </a:extLst>
            </p:cNvPr>
            <p:cNvSpPr>
              <a:spLocks noChangeArrowheads="1"/>
            </p:cNvSpPr>
            <p:nvPr/>
          </p:nvSpPr>
          <p:spPr bwMode="auto">
            <a:xfrm>
              <a:off x="7917873" y="24799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干扰</a:t>
              </a:r>
            </a:p>
          </p:txBody>
        </p:sp>
        <p:sp>
          <p:nvSpPr>
            <p:cNvPr id="15" name="Rectangle 17">
              <a:extLst>
                <a:ext uri="{FF2B5EF4-FFF2-40B4-BE49-F238E27FC236}">
                  <a16:creationId xmlns:a16="http://schemas.microsoft.com/office/drawing/2014/main" id="{CD73D3F4-6E78-B0E1-32DE-0A395FE4568E}"/>
                </a:ext>
              </a:extLst>
            </p:cNvPr>
            <p:cNvSpPr>
              <a:spLocks noChangeArrowheads="1"/>
            </p:cNvSpPr>
            <p:nvPr/>
          </p:nvSpPr>
          <p:spPr bwMode="auto">
            <a:xfrm>
              <a:off x="7232073" y="25561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散射</a:t>
              </a:r>
            </a:p>
          </p:txBody>
        </p:sp>
        <p:sp>
          <p:nvSpPr>
            <p:cNvPr id="16" name="Rectangle 18">
              <a:extLst>
                <a:ext uri="{FF2B5EF4-FFF2-40B4-BE49-F238E27FC236}">
                  <a16:creationId xmlns:a16="http://schemas.microsoft.com/office/drawing/2014/main" id="{99CC0087-FB99-4FFC-ADD7-7530AE8F92C2}"/>
                </a:ext>
              </a:extLst>
            </p:cNvPr>
            <p:cNvSpPr>
              <a:spLocks noChangeArrowheads="1"/>
            </p:cNvSpPr>
            <p:nvPr/>
          </p:nvSpPr>
          <p:spPr bwMode="auto">
            <a:xfrm>
              <a:off x="8527473" y="40039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solidFill>
                    <a:srgbClr val="000066"/>
                  </a:solidFill>
                  <a:ea typeface="宋体" panose="02010600030101010101" pitchFamily="2" charset="-122"/>
                </a:rPr>
                <a:t>移动</a:t>
              </a:r>
            </a:p>
          </p:txBody>
        </p:sp>
        <p:sp>
          <p:nvSpPr>
            <p:cNvPr id="17" name="Rectangle 19">
              <a:extLst>
                <a:ext uri="{FF2B5EF4-FFF2-40B4-BE49-F238E27FC236}">
                  <a16:creationId xmlns:a16="http://schemas.microsoft.com/office/drawing/2014/main" id="{11514F14-4BA6-F548-271E-225C11B66C86}"/>
                </a:ext>
              </a:extLst>
            </p:cNvPr>
            <p:cNvSpPr>
              <a:spLocks noChangeArrowheads="1"/>
            </p:cNvSpPr>
            <p:nvPr/>
          </p:nvSpPr>
          <p:spPr bwMode="auto">
            <a:xfrm>
              <a:off x="6698673" y="4613563"/>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热噪声</a:t>
              </a:r>
            </a:p>
          </p:txBody>
        </p:sp>
        <p:sp>
          <p:nvSpPr>
            <p:cNvPr id="18" name="Rectangle 20">
              <a:extLst>
                <a:ext uri="{FF2B5EF4-FFF2-40B4-BE49-F238E27FC236}">
                  <a16:creationId xmlns:a16="http://schemas.microsoft.com/office/drawing/2014/main" id="{7774AC47-1B89-82D2-0800-9F03B038F4D0}"/>
                </a:ext>
              </a:extLst>
            </p:cNvPr>
            <p:cNvSpPr>
              <a:spLocks noChangeArrowheads="1"/>
            </p:cNvSpPr>
            <p:nvPr/>
          </p:nvSpPr>
          <p:spPr bwMode="auto">
            <a:xfrm>
              <a:off x="7917873" y="4689763"/>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solidFill>
                    <a:srgbClr val="000066"/>
                  </a:solidFill>
                  <a:ea typeface="宋体" panose="02010600030101010101" pitchFamily="2" charset="-122"/>
                </a:rPr>
                <a:t>无线收</a:t>
              </a:r>
            </a:p>
          </p:txBody>
        </p:sp>
        <p:sp>
          <p:nvSpPr>
            <p:cNvPr id="19" name="Rectangle 21">
              <a:extLst>
                <a:ext uri="{FF2B5EF4-FFF2-40B4-BE49-F238E27FC236}">
                  <a16:creationId xmlns:a16="http://schemas.microsoft.com/office/drawing/2014/main" id="{296C879A-8EF3-8D4B-B991-03A8CCDDE2DC}"/>
                </a:ext>
              </a:extLst>
            </p:cNvPr>
            <p:cNvSpPr>
              <a:spLocks noChangeArrowheads="1"/>
            </p:cNvSpPr>
            <p:nvPr/>
          </p:nvSpPr>
          <p:spPr bwMode="auto">
            <a:xfrm>
              <a:off x="8375073" y="3318163"/>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ea typeface="宋体" panose="02010600030101010101" pitchFamily="2" charset="-122"/>
                </a:rPr>
                <a:t>天线</a:t>
              </a:r>
            </a:p>
          </p:txBody>
        </p:sp>
      </p:grpSp>
      <p:pic>
        <p:nvPicPr>
          <p:cNvPr id="21" name="图片 20">
            <a:extLst>
              <a:ext uri="{FF2B5EF4-FFF2-40B4-BE49-F238E27FC236}">
                <a16:creationId xmlns:a16="http://schemas.microsoft.com/office/drawing/2014/main" id="{CBE7C90F-D1A9-7737-E616-4C933C2074E3}"/>
              </a:ext>
            </a:extLst>
          </p:cNvPr>
          <p:cNvPicPr>
            <a:picLocks noChangeAspect="1"/>
          </p:cNvPicPr>
          <p:nvPr/>
        </p:nvPicPr>
        <p:blipFill>
          <a:blip r:embed="rId3"/>
          <a:stretch>
            <a:fillRect/>
          </a:stretch>
        </p:blipFill>
        <p:spPr>
          <a:xfrm>
            <a:off x="743283" y="2589860"/>
            <a:ext cx="7405742" cy="404815"/>
          </a:xfrm>
          <a:prstGeom prst="rect">
            <a:avLst/>
          </a:prstGeom>
        </p:spPr>
      </p:pic>
    </p:spTree>
    <p:extLst>
      <p:ext uri="{BB962C8B-B14F-4D97-AF65-F5344CB8AC3E}">
        <p14:creationId xmlns:p14="http://schemas.microsoft.com/office/powerpoint/2010/main" val="1279074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8F67890-19BA-7F50-CB09-93C758FD496C}"/>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r>
              <a:rPr lang="en-US" altLang="zh-CN"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阴影衰落</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9CBC9119-52D0-E14A-D888-D34BB1E1F443}"/>
              </a:ext>
            </a:extLst>
          </p:cNvPr>
          <p:cNvSpPr txBox="1"/>
          <p:nvPr/>
        </p:nvSpPr>
        <p:spPr>
          <a:xfrm>
            <a:off x="395536" y="702433"/>
            <a:ext cx="8541827" cy="3351367"/>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t>对数正态分布描述了在传播路径上，具有相同 </a:t>
            </a:r>
            <a:r>
              <a:rPr lang="en-US" altLang="zh-CN" dirty="0"/>
              <a:t>T-R </a:t>
            </a:r>
            <a:r>
              <a:rPr lang="zh-CN" altLang="en-US" dirty="0"/>
              <a:t>距离时，不同的随机阴影效应。这样 利用高斯分布可以方便地分析阴影的随机效应。正态（</a:t>
            </a:r>
            <a:r>
              <a:rPr lang="en-US" altLang="zh-CN" dirty="0" err="1"/>
              <a:t>NormaL</a:t>
            </a:r>
            <a:r>
              <a:rPr lang="zh-CN" altLang="en-US" dirty="0"/>
              <a:t>）分布，也叫高斯（</a:t>
            </a:r>
            <a:r>
              <a:rPr lang="en-US" altLang="zh-CN" dirty="0"/>
              <a:t>Gaussian</a:t>
            </a:r>
            <a:r>
              <a:rPr lang="zh-CN" altLang="en-US" dirty="0"/>
              <a:t>） 分布，它的概率密度函数是如下：应用于阴影衰落时，式中的 </a:t>
            </a:r>
            <a:r>
              <a:rPr lang="en-US" altLang="zh-CN" dirty="0"/>
              <a:t>x </a:t>
            </a:r>
            <a:r>
              <a:rPr lang="zh-CN" altLang="en-US" dirty="0"/>
              <a:t>表示某一次测量得到的接收功率，</a:t>
            </a:r>
            <a:r>
              <a:rPr lang="en-US" altLang="zh-CN" dirty="0"/>
              <a:t>m </a:t>
            </a:r>
            <a:r>
              <a:rPr lang="zh-CN" altLang="en-US" dirty="0"/>
              <a:t>表示以 </a:t>
            </a:r>
            <a:r>
              <a:rPr lang="en-US" altLang="zh-CN" dirty="0"/>
              <a:t>dB </a:t>
            </a:r>
            <a:r>
              <a:rPr lang="zh-CN" altLang="en-US" dirty="0"/>
              <a:t>表示接收功率的均值或中值，</a:t>
            </a:r>
            <a:r>
              <a:rPr lang="el-GR" altLang="zh-CN" dirty="0"/>
              <a:t>σ</a:t>
            </a:r>
            <a:r>
              <a:rPr lang="zh-CN" altLang="en-US" dirty="0"/>
              <a:t>表示接收功率的标准差，单位为 </a:t>
            </a:r>
            <a:r>
              <a:rPr lang="en-US" altLang="zh-CN" dirty="0"/>
              <a:t>dB</a:t>
            </a:r>
            <a:r>
              <a:rPr lang="zh-CN" altLang="en-US" dirty="0"/>
              <a:t>。阴影衰落的标准差同地形、 建筑物类型、建筑物密度等有关，在市区的 </a:t>
            </a:r>
            <a:r>
              <a:rPr lang="en-US" altLang="zh-CN" dirty="0"/>
              <a:t>150MHz </a:t>
            </a:r>
            <a:r>
              <a:rPr lang="zh-CN" altLang="en-US" dirty="0"/>
              <a:t>频段其典型值是 </a:t>
            </a:r>
            <a:r>
              <a:rPr lang="en-US" altLang="zh-CN" dirty="0"/>
              <a:t>5dB</a:t>
            </a:r>
            <a:r>
              <a:rPr lang="zh-CN" altLang="en-US" dirty="0"/>
              <a:t>。 </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zh-CN" altLang="en-US" dirty="0">
              <a:latin typeface="+mn-ea"/>
            </a:endParaRPr>
          </a:p>
        </p:txBody>
      </p:sp>
      <p:pic>
        <p:nvPicPr>
          <p:cNvPr id="5" name="图片 4">
            <a:extLst>
              <a:ext uri="{FF2B5EF4-FFF2-40B4-BE49-F238E27FC236}">
                <a16:creationId xmlns:a16="http://schemas.microsoft.com/office/drawing/2014/main" id="{760A2382-BF08-2F7D-DD5A-B58167073D4C}"/>
              </a:ext>
            </a:extLst>
          </p:cNvPr>
          <p:cNvPicPr>
            <a:picLocks noChangeAspect="1"/>
          </p:cNvPicPr>
          <p:nvPr/>
        </p:nvPicPr>
        <p:blipFill>
          <a:blip r:embed="rId2"/>
          <a:stretch>
            <a:fillRect/>
          </a:stretch>
        </p:blipFill>
        <p:spPr>
          <a:xfrm>
            <a:off x="2411760" y="3214198"/>
            <a:ext cx="3854077" cy="839602"/>
          </a:xfrm>
          <a:prstGeom prst="rect">
            <a:avLst/>
          </a:prstGeom>
        </p:spPr>
      </p:pic>
      <p:pic>
        <p:nvPicPr>
          <p:cNvPr id="7" name="图片 6">
            <a:extLst>
              <a:ext uri="{FF2B5EF4-FFF2-40B4-BE49-F238E27FC236}">
                <a16:creationId xmlns:a16="http://schemas.microsoft.com/office/drawing/2014/main" id="{F0083E35-C071-1535-045B-62EE3C084D9C}"/>
              </a:ext>
            </a:extLst>
          </p:cNvPr>
          <p:cNvPicPr>
            <a:picLocks noChangeAspect="1"/>
          </p:cNvPicPr>
          <p:nvPr/>
        </p:nvPicPr>
        <p:blipFill>
          <a:blip r:embed="rId3"/>
          <a:stretch>
            <a:fillRect/>
          </a:stretch>
        </p:blipFill>
        <p:spPr>
          <a:xfrm>
            <a:off x="1663550" y="4365104"/>
            <a:ext cx="5816899" cy="2013053"/>
          </a:xfrm>
          <a:prstGeom prst="rect">
            <a:avLst/>
          </a:prstGeom>
        </p:spPr>
      </p:pic>
    </p:spTree>
    <p:extLst>
      <p:ext uri="{BB962C8B-B14F-4D97-AF65-F5344CB8AC3E}">
        <p14:creationId xmlns:p14="http://schemas.microsoft.com/office/powerpoint/2010/main" val="3873916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6F3122E8-3761-175A-38A1-D272E64AE26D}"/>
              </a:ext>
            </a:extLst>
          </p:cNvPr>
          <p:cNvSpPr/>
          <p:nvPr/>
        </p:nvSpPr>
        <p:spPr>
          <a:xfrm>
            <a:off x="251985" y="258384"/>
            <a:ext cx="8359687"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实验原理</a:t>
            </a:r>
            <a:r>
              <a:rPr lang="en-US" altLang="zh-CN"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穿透损耗</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a:extLst>
              <a:ext uri="{FF2B5EF4-FFF2-40B4-BE49-F238E27FC236}">
                <a16:creationId xmlns:a16="http://schemas.microsoft.com/office/drawing/2014/main" id="{1A2E1DFB-A8F5-E41B-26A6-B3B15D6B3F3E}"/>
              </a:ext>
            </a:extLst>
          </p:cNvPr>
          <p:cNvSpPr txBox="1"/>
          <p:nvPr/>
        </p:nvSpPr>
        <p:spPr>
          <a:xfrm>
            <a:off x="395536" y="702433"/>
            <a:ext cx="8541827" cy="459786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latin typeface="+mn-ea"/>
              </a:rPr>
              <a:t>建筑物穿透损耗的大小对于研究室内无线信道具有重要意义。穿透损耗又称大楼效应，</a:t>
            </a:r>
            <a:r>
              <a:rPr lang="zh-CN" altLang="en-US" dirty="0"/>
              <a:t>发射机位于室外，接收机位于室内，电波从室外进入到室内，产生建筑物的穿透损耗， 由于建筑物存在屏蔽和吸收作用，室内场强一定小于室外的场强，造成传输损耗。室外至室内建筑物的穿透损耗定义为：室外测量的信号平均场强减去在同一位置室内测量的信号平均 场强</a:t>
            </a:r>
            <a:r>
              <a:rPr lang="zh-CN" altLang="en-US" dirty="0">
                <a:latin typeface="+mn-ea"/>
              </a:rPr>
              <a:t>一般指建筑物一楼内的中值电场强度和室外附近街道上中值电场强度</a:t>
            </a:r>
            <a:r>
              <a:rPr lang="en-US" altLang="zh-CN" dirty="0">
                <a:latin typeface="+mn-ea"/>
              </a:rPr>
              <a:t>dB</a:t>
            </a:r>
            <a:r>
              <a:rPr lang="zh-CN" altLang="en-US" dirty="0">
                <a:latin typeface="+mn-ea"/>
              </a:rPr>
              <a:t>之差：</a:t>
            </a:r>
            <a:r>
              <a:rPr lang="en-US" altLang="zh-CN" b="0" i="0" dirty="0">
                <a:solidFill>
                  <a:srgbClr val="333333"/>
                </a:solidFill>
                <a:effectLst/>
                <a:latin typeface="PingFang SC"/>
              </a:rPr>
              <a:t> </a:t>
            </a:r>
          </a:p>
          <a:p>
            <a:pPr marL="285750" indent="-285750">
              <a:lnSpc>
                <a:spcPct val="150000"/>
              </a:lnSpc>
              <a:buFont typeface="Wingdings" panose="05000000000000000000" pitchFamily="2" charset="2"/>
              <a:buChar char="Ø"/>
            </a:pPr>
            <a:endParaRPr lang="en-US" altLang="zh-CN" dirty="0">
              <a:solidFill>
                <a:srgbClr val="333333"/>
              </a:solidFill>
              <a:latin typeface="PingFang SC"/>
            </a:endParaRPr>
          </a:p>
          <a:p>
            <a:pPr marL="285750" indent="-285750">
              <a:lnSpc>
                <a:spcPct val="150000"/>
              </a:lnSpc>
              <a:buFont typeface="Wingdings" panose="05000000000000000000" pitchFamily="2" charset="2"/>
              <a:buChar char="Ø"/>
            </a:pP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r>
              <a:rPr lang="en-US" altLang="zh-CN" dirty="0">
                <a:solidFill>
                  <a:srgbClr val="333333"/>
                </a:solidFill>
                <a:latin typeface="PingFang SC"/>
              </a:rPr>
              <a:t> 2GHz</a:t>
            </a:r>
            <a:r>
              <a:rPr lang="zh-CN" altLang="en-US" dirty="0">
                <a:solidFill>
                  <a:srgbClr val="333333"/>
                </a:solidFill>
                <a:latin typeface="PingFang SC"/>
              </a:rPr>
              <a:t>频段损耗参考值</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zh-CN" altLang="en-US" dirty="0">
              <a:latin typeface="+mn-ea"/>
            </a:endParaRPr>
          </a:p>
        </p:txBody>
      </p:sp>
      <p:pic>
        <p:nvPicPr>
          <p:cNvPr id="20" name="图片 19">
            <a:extLst>
              <a:ext uri="{FF2B5EF4-FFF2-40B4-BE49-F238E27FC236}">
                <a16:creationId xmlns:a16="http://schemas.microsoft.com/office/drawing/2014/main" id="{E6D96370-69F2-B1D6-B905-C26404FC01C9}"/>
              </a:ext>
            </a:extLst>
          </p:cNvPr>
          <p:cNvPicPr>
            <a:picLocks noChangeAspect="1"/>
          </p:cNvPicPr>
          <p:nvPr/>
        </p:nvPicPr>
        <p:blipFill>
          <a:blip r:embed="rId2"/>
          <a:stretch>
            <a:fillRect/>
          </a:stretch>
        </p:blipFill>
        <p:spPr>
          <a:xfrm>
            <a:off x="1403648" y="3197673"/>
            <a:ext cx="6226965" cy="735383"/>
          </a:xfrm>
          <a:prstGeom prst="rect">
            <a:avLst/>
          </a:prstGeom>
        </p:spPr>
      </p:pic>
      <p:pic>
        <p:nvPicPr>
          <p:cNvPr id="22" name="图片 21">
            <a:extLst>
              <a:ext uri="{FF2B5EF4-FFF2-40B4-BE49-F238E27FC236}">
                <a16:creationId xmlns:a16="http://schemas.microsoft.com/office/drawing/2014/main" id="{13224687-0CD2-D867-8D12-3F4725889B6D}"/>
              </a:ext>
            </a:extLst>
          </p:cNvPr>
          <p:cNvPicPr>
            <a:picLocks noChangeAspect="1"/>
          </p:cNvPicPr>
          <p:nvPr/>
        </p:nvPicPr>
        <p:blipFill>
          <a:blip r:embed="rId3"/>
          <a:stretch>
            <a:fillRect/>
          </a:stretch>
        </p:blipFill>
        <p:spPr>
          <a:xfrm>
            <a:off x="1799692" y="4599927"/>
            <a:ext cx="5544616" cy="1999689"/>
          </a:xfrm>
          <a:prstGeom prst="rect">
            <a:avLst/>
          </a:prstGeom>
        </p:spPr>
      </p:pic>
    </p:spTree>
    <p:extLst>
      <p:ext uri="{BB962C8B-B14F-4D97-AF65-F5344CB8AC3E}">
        <p14:creationId xmlns:p14="http://schemas.microsoft.com/office/powerpoint/2010/main" val="3216710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707A82A-9546-16EE-CD71-DB6ABF56197C}"/>
              </a:ext>
            </a:extLst>
          </p:cNvPr>
          <p:cNvGrpSpPr/>
          <p:nvPr/>
        </p:nvGrpSpPr>
        <p:grpSpPr>
          <a:xfrm>
            <a:off x="179512" y="836712"/>
            <a:ext cx="8756321" cy="5904656"/>
            <a:chOff x="768859" y="579121"/>
            <a:chExt cx="10654282" cy="5791200"/>
          </a:xfrm>
        </p:grpSpPr>
        <p:sp>
          <p:nvSpPr>
            <p:cNvPr id="3" name="矩形 2">
              <a:extLst>
                <a:ext uri="{FF2B5EF4-FFF2-40B4-BE49-F238E27FC236}">
                  <a16:creationId xmlns:a16="http://schemas.microsoft.com/office/drawing/2014/main" id="{181EE4B0-00AF-3118-9881-C6A5E66F44FC}"/>
                </a:ext>
              </a:extLst>
            </p:cNvPr>
            <p:cNvSpPr/>
            <p:nvPr/>
          </p:nvSpPr>
          <p:spPr>
            <a:xfrm>
              <a:off x="768859" y="579121"/>
              <a:ext cx="10654282" cy="5791200"/>
            </a:xfrm>
            <a:prstGeom prst="rect">
              <a:avLst/>
            </a:prstGeom>
            <a:solidFill>
              <a:srgbClr val="FFFFFF"/>
            </a:solidFill>
            <a:ln>
              <a:noFill/>
            </a:ln>
            <a:effectLst>
              <a:outerShdw blurRad="2667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2" descr="G:\PPT素材库\B素材\简约大气绚丽深紫色渐变背景\C背景图\3a87e52a5b1559cc07cb90ee33d06a12.png">
              <a:extLst>
                <a:ext uri="{FF2B5EF4-FFF2-40B4-BE49-F238E27FC236}">
                  <a16:creationId xmlns:a16="http://schemas.microsoft.com/office/drawing/2014/main" id="{9EFDDB6F-0AC6-0227-585B-5336D95E7D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V="1">
              <a:off x="9967404" y="4814652"/>
              <a:ext cx="1455737" cy="1555666"/>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Synergistically utilize technically sound portals with frictionless chains. Dramatically customize…">
            <a:extLst>
              <a:ext uri="{FF2B5EF4-FFF2-40B4-BE49-F238E27FC236}">
                <a16:creationId xmlns:a16="http://schemas.microsoft.com/office/drawing/2014/main" id="{09875EB0-B68F-801F-B55C-550722700313}"/>
              </a:ext>
            </a:extLst>
          </p:cNvPr>
          <p:cNvSpPr txBox="1"/>
          <p:nvPr/>
        </p:nvSpPr>
        <p:spPr>
          <a:xfrm>
            <a:off x="726081" y="2428519"/>
            <a:ext cx="2388385" cy="276999"/>
          </a:xfrm>
          <a:prstGeom prst="rect">
            <a:avLst/>
          </a:prstGeom>
          <a:ln w="12700">
            <a:miter lim="400000"/>
          </a:ln>
        </p:spPr>
        <p:txBody>
          <a:bodyPr wrap="square" lIns="0" tIns="0" rIns="0" bIns="0">
            <a:spAutoFit/>
          </a:bodyPr>
          <a:lstStyle/>
          <a:p>
            <a:endParaRPr lang="zh-CN" altLang="zh-CN" dirty="0">
              <a:solidFill>
                <a:schemeClr val="tx2"/>
              </a:solidFill>
            </a:endParaRPr>
          </a:p>
        </p:txBody>
      </p:sp>
      <p:sp>
        <p:nvSpPr>
          <p:cNvPr id="8" name="文本框 7">
            <a:extLst>
              <a:ext uri="{FF2B5EF4-FFF2-40B4-BE49-F238E27FC236}">
                <a16:creationId xmlns:a16="http://schemas.microsoft.com/office/drawing/2014/main" id="{B7DA9DCB-CCE3-A379-8717-9100D3F3CA8F}"/>
              </a:ext>
            </a:extLst>
          </p:cNvPr>
          <p:cNvSpPr txBox="1"/>
          <p:nvPr/>
        </p:nvSpPr>
        <p:spPr>
          <a:xfrm>
            <a:off x="2681430" y="836712"/>
            <a:ext cx="6157405" cy="5728620"/>
          </a:xfrm>
          <a:prstGeom prst="rect">
            <a:avLst/>
          </a:prstGeom>
          <a:noFill/>
        </p:spPr>
        <p:txBody>
          <a:bodyPr wrap="square" numCol="1">
            <a:spAutoFit/>
          </a:bodyPr>
          <a:lstStyle/>
          <a:p>
            <a:pPr defTabSz="514350">
              <a:lnSpc>
                <a:spcPct val="150000"/>
              </a:lnSpc>
              <a:defRPr/>
            </a:pPr>
            <a:r>
              <a:rPr lang="zh-CN" altLang="en-US" b="1" kern="100" dirty="0">
                <a:solidFill>
                  <a:srgbClr val="C00000"/>
                </a:solidFill>
                <a:latin typeface="微软雅黑" panose="020B0503020204020204" pitchFamily="34" charset="-122"/>
                <a:ea typeface="微软雅黑" panose="020B0503020204020204" pitchFamily="34" charset="-122"/>
              </a:rPr>
              <a:t>步骤一：数据采集</a:t>
            </a:r>
            <a:endParaRPr lang="en-US" altLang="zh-CN" b="1" kern="100" dirty="0">
              <a:solidFill>
                <a:srgbClr val="C00000"/>
              </a:solidFill>
              <a:latin typeface="微软雅黑" panose="020B0503020204020204" pitchFamily="34" charset="-122"/>
              <a:ea typeface="微软雅黑" panose="020B0503020204020204" pitchFamily="34" charset="-122"/>
            </a:endParaRPr>
          </a:p>
          <a:p>
            <a:pPr defTabSz="514350">
              <a:lnSpc>
                <a:spcPct val="150000"/>
              </a:lnSpc>
              <a:defRPr/>
            </a:pPr>
            <a:r>
              <a:rPr lang="en-US" altLang="zh-CN" sz="1600" dirty="0"/>
              <a:t>	</a:t>
            </a:r>
            <a:r>
              <a:rPr lang="zh-CN" altLang="en-US" sz="1600" dirty="0"/>
              <a:t>通过场强测试设备进行数据采集：</a:t>
            </a:r>
            <a:r>
              <a:rPr lang="en-US" altLang="zh-CN" sz="1600" dirty="0"/>
              <a:t>	</a:t>
            </a:r>
          </a:p>
          <a:p>
            <a:pPr defTabSz="514350">
              <a:lnSpc>
                <a:spcPct val="150000"/>
              </a:lnSpc>
              <a:defRPr/>
            </a:pPr>
            <a:r>
              <a:rPr lang="en-US" altLang="zh-CN" sz="1600" dirty="0"/>
              <a:t>  A.</a:t>
            </a:r>
            <a:r>
              <a:rPr lang="zh-CN" altLang="en-US" sz="1600" dirty="0"/>
              <a:t>根据校园地形图，设计校园室外的场强信号采集；</a:t>
            </a:r>
            <a:endParaRPr lang="en-US" altLang="zh-CN" sz="1600" dirty="0"/>
          </a:p>
          <a:p>
            <a:pPr>
              <a:lnSpc>
                <a:spcPct val="150000"/>
              </a:lnSpc>
            </a:pPr>
            <a:r>
              <a:rPr lang="en-US" altLang="zh-CN" sz="1600" dirty="0"/>
              <a:t>  B.</a:t>
            </a:r>
            <a:r>
              <a:rPr lang="zh-CN" altLang="en-US" sz="1600" dirty="0"/>
              <a:t>根据校园建筑物结构图，设计校园内室内的场强仪信号；</a:t>
            </a:r>
            <a:endParaRPr lang="en-US" altLang="zh-CN" sz="1600" dirty="0"/>
          </a:p>
          <a:p>
            <a:pPr>
              <a:lnSpc>
                <a:spcPct val="150000"/>
              </a:lnSpc>
            </a:pPr>
            <a:r>
              <a:rPr lang="en-US" altLang="zh-CN" sz="1600" dirty="0"/>
              <a:t>  C.</a:t>
            </a:r>
            <a:r>
              <a:rPr lang="zh-CN" altLang="en-US" sz="1600" dirty="0"/>
              <a:t>选择典型特征建筑物（如：砖石、钢混等结构的教学楼或宿舍楼）为中心的围绕场强采集；</a:t>
            </a:r>
            <a:r>
              <a:rPr lang="en-US" altLang="zh-CN" sz="1600" dirty="0"/>
              <a:t> </a:t>
            </a:r>
          </a:p>
          <a:p>
            <a:pPr defTabSz="514350">
              <a:lnSpc>
                <a:spcPct val="150000"/>
              </a:lnSpc>
              <a:defRPr/>
            </a:pPr>
            <a:r>
              <a:rPr lang="zh-CN" altLang="en-US" b="1" kern="100" dirty="0">
                <a:solidFill>
                  <a:srgbClr val="C00000"/>
                </a:solidFill>
                <a:latin typeface="微软雅黑" panose="020B0503020204020204" pitchFamily="34" charset="-122"/>
                <a:ea typeface="微软雅黑" panose="020B0503020204020204" pitchFamily="34" charset="-122"/>
              </a:rPr>
              <a:t>步骤二：数据录入</a:t>
            </a:r>
            <a:endParaRPr lang="en-US" altLang="zh-CN" b="1" kern="100" dirty="0">
              <a:solidFill>
                <a:srgbClr val="C00000"/>
              </a:solidFill>
              <a:latin typeface="微软雅黑" panose="020B0503020204020204" pitchFamily="34" charset="-122"/>
              <a:ea typeface="微软雅黑" panose="020B0503020204020204" pitchFamily="34" charset="-122"/>
            </a:endParaRPr>
          </a:p>
          <a:p>
            <a:pPr defTabSz="514350">
              <a:lnSpc>
                <a:spcPct val="150000"/>
              </a:lnSpc>
              <a:defRPr/>
            </a:pPr>
            <a:r>
              <a:rPr lang="en-US" altLang="zh-CN" sz="1600" dirty="0"/>
              <a:t>	</a:t>
            </a:r>
            <a:r>
              <a:rPr lang="zh-CN" altLang="en-US" sz="1600" dirty="0"/>
              <a:t>按照日期时间、地点或坐标位置、周围状态描述（楼层、室内靠窗、室外、走廊等）；</a:t>
            </a:r>
            <a:endParaRPr lang="en-US" altLang="zh-CN" sz="1600" dirty="0"/>
          </a:p>
          <a:p>
            <a:pPr defTabSz="514350">
              <a:lnSpc>
                <a:spcPct val="150000"/>
              </a:lnSpc>
              <a:defRPr/>
            </a:pPr>
            <a:r>
              <a:rPr lang="zh-CN" altLang="en-US" b="1" kern="100" dirty="0">
                <a:solidFill>
                  <a:srgbClr val="C00000"/>
                </a:solidFill>
                <a:latin typeface="微软雅黑" panose="020B0503020204020204" pitchFamily="34" charset="-122"/>
                <a:ea typeface="微软雅黑" panose="020B0503020204020204" pitchFamily="34" charset="-122"/>
              </a:rPr>
              <a:t>步骤三：数据分析</a:t>
            </a:r>
            <a:endParaRPr lang="en-US" altLang="zh-CN" b="1" kern="100" dirty="0">
              <a:solidFill>
                <a:srgbClr val="C00000"/>
              </a:solidFill>
              <a:latin typeface="微软雅黑" panose="020B0503020204020204" pitchFamily="34" charset="-122"/>
              <a:ea typeface="微软雅黑" panose="020B0503020204020204" pitchFamily="34" charset="-122"/>
            </a:endParaRPr>
          </a:p>
          <a:p>
            <a:pPr defTabSz="514350">
              <a:lnSpc>
                <a:spcPct val="150000"/>
              </a:lnSpc>
              <a:defRPr/>
            </a:pPr>
            <a:r>
              <a:rPr lang="en-US" altLang="zh-CN" sz="1600" dirty="0"/>
              <a:t>	</a:t>
            </a:r>
            <a:r>
              <a:rPr lang="zh-CN" altLang="en-US" sz="1600" dirty="0"/>
              <a:t>通过数学工具</a:t>
            </a:r>
            <a:r>
              <a:rPr lang="en-US" altLang="zh-CN" sz="1600" dirty="0" err="1"/>
              <a:t>Matlab</a:t>
            </a:r>
            <a:r>
              <a:rPr lang="zh-CN" altLang="en-US" sz="1600" dirty="0"/>
              <a:t>进行数据处理，按照室内外等分类计算均值及标准差，画出累计分布曲线：</a:t>
            </a:r>
            <a:endParaRPr lang="en-US" altLang="zh-CN" sz="1600" dirty="0"/>
          </a:p>
          <a:p>
            <a:pPr defTabSz="514350">
              <a:lnSpc>
                <a:spcPct val="150000"/>
              </a:lnSpc>
              <a:defRPr/>
            </a:pPr>
            <a:r>
              <a:rPr lang="en-US" altLang="zh-CN" sz="1600" dirty="0"/>
              <a:t>     A. </a:t>
            </a:r>
            <a:r>
              <a:rPr lang="zh-CN" altLang="en-US" sz="1600" dirty="0"/>
              <a:t>通过室外数据衰落特征，归纳电磁场传播模型规律；</a:t>
            </a:r>
            <a:endParaRPr lang="en-US" altLang="zh-CN" sz="1600" dirty="0"/>
          </a:p>
          <a:p>
            <a:pPr defTabSz="514350">
              <a:lnSpc>
                <a:spcPct val="150000"/>
              </a:lnSpc>
              <a:defRPr/>
            </a:pPr>
            <a:r>
              <a:rPr lang="en-US" altLang="zh-CN" sz="1600" dirty="0"/>
              <a:t>     B.</a:t>
            </a:r>
            <a:r>
              <a:rPr lang="zh-CN" altLang="en-US" sz="1600" dirty="0"/>
              <a:t> 与正态分布曲线做类比，得出室内外等阴影衰落分布规律情况；</a:t>
            </a:r>
            <a:endParaRPr lang="en-US" altLang="zh-CN" sz="1600" dirty="0"/>
          </a:p>
          <a:p>
            <a:pPr defTabSz="514350">
              <a:lnSpc>
                <a:spcPct val="150000"/>
              </a:lnSpc>
              <a:defRPr/>
            </a:pPr>
            <a:r>
              <a:rPr lang="en-US" altLang="zh-CN" sz="1600" dirty="0"/>
              <a:t>     C. </a:t>
            </a:r>
            <a:r>
              <a:rPr lang="zh-CN" altLang="en-US" sz="1600" dirty="0"/>
              <a:t>参照公式分类，计算各种典型建筑物的穿透损耗特征差异；</a:t>
            </a:r>
            <a:endParaRPr lang="zh-CN" altLang="en-US" sz="1600" dirty="0">
              <a:sym typeface="+mn-ea"/>
            </a:endParaRPr>
          </a:p>
        </p:txBody>
      </p:sp>
      <p:sp>
        <p:nvSpPr>
          <p:cNvPr id="9" name="矩形 8">
            <a:extLst>
              <a:ext uri="{FF2B5EF4-FFF2-40B4-BE49-F238E27FC236}">
                <a16:creationId xmlns:a16="http://schemas.microsoft.com/office/drawing/2014/main" id="{148805BC-E56F-EE12-951A-66459FD4F4C8}"/>
              </a:ext>
            </a:extLst>
          </p:cNvPr>
          <p:cNvSpPr/>
          <p:nvPr/>
        </p:nvSpPr>
        <p:spPr>
          <a:xfrm>
            <a:off x="179512" y="205291"/>
            <a:ext cx="10654282" cy="584775"/>
          </a:xfrm>
          <a:prstGeom prst="rect">
            <a:avLst/>
          </a:prstGeom>
        </p:spPr>
        <p:txBody>
          <a:bodyPr wrap="square">
            <a:spAutoFit/>
          </a:bodyPr>
          <a:lstStyle/>
          <a:p>
            <a:pPr algn="l"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实验过程  </a:t>
            </a:r>
            <a:r>
              <a:rPr lang="zh-CN" altLang="en-US"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基于北邮校园建筑物位置地图开展户外室内实验数据采集；</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 name="图片 9" descr="C:\Users\surface\AppData\Local\Temp\WeChat Files\301752332908605078.png">
            <a:extLst>
              <a:ext uri="{FF2B5EF4-FFF2-40B4-BE49-F238E27FC236}">
                <a16:creationId xmlns:a16="http://schemas.microsoft.com/office/drawing/2014/main" id="{4C8F7D47-783C-DA2A-8F52-E81472D942B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5166" y="943594"/>
            <a:ext cx="2376264" cy="5581750"/>
          </a:xfrm>
          <a:prstGeom prst="rect">
            <a:avLst/>
          </a:prstGeom>
          <a:noFill/>
          <a:ln>
            <a:noFill/>
          </a:ln>
        </p:spPr>
      </p:pic>
    </p:spTree>
    <p:extLst>
      <p:ext uri="{BB962C8B-B14F-4D97-AF65-F5344CB8AC3E}">
        <p14:creationId xmlns:p14="http://schemas.microsoft.com/office/powerpoint/2010/main" val="345084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3723-9734-BBD5-3721-21A8EBDA1A8C}"/>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AE533FC2-94CE-9364-027C-C379427EFD02}"/>
              </a:ext>
            </a:extLst>
          </p:cNvPr>
          <p:cNvSpPr/>
          <p:nvPr/>
        </p:nvSpPr>
        <p:spPr>
          <a:xfrm>
            <a:off x="251985" y="258384"/>
            <a:ext cx="8359687" cy="584775"/>
          </a:xfrm>
          <a:prstGeom prst="rect">
            <a:avLst/>
          </a:prstGeom>
        </p:spPr>
        <p:txBody>
          <a:bodyPr wrap="square">
            <a:spAutoFit/>
          </a:bodyPr>
          <a:lstStyle/>
          <a:p>
            <a:pPr algn="ctr" defTabSz="514350">
              <a:defRPr/>
            </a:pPr>
            <a:r>
              <a:rPr lang="zh-CN" altLang="en-US" sz="32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数据采集注意事项</a:t>
            </a:r>
            <a:endParaRPr lang="en-US" altLang="zh-CN" sz="1600" b="1" kern="1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文本框 18">
            <a:extLst>
              <a:ext uri="{FF2B5EF4-FFF2-40B4-BE49-F238E27FC236}">
                <a16:creationId xmlns:a16="http://schemas.microsoft.com/office/drawing/2014/main" id="{2A4C7FE6-06F0-BFD2-86AB-09531249D656}"/>
              </a:ext>
            </a:extLst>
          </p:cNvPr>
          <p:cNvSpPr txBox="1"/>
          <p:nvPr/>
        </p:nvSpPr>
        <p:spPr>
          <a:xfrm>
            <a:off x="395536" y="702433"/>
            <a:ext cx="8541827" cy="625985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b="0" i="0" dirty="0">
                <a:solidFill>
                  <a:srgbClr val="333333"/>
                </a:solidFill>
                <a:effectLst/>
                <a:latin typeface="+mn-ea"/>
              </a:rPr>
              <a:t> </a:t>
            </a:r>
            <a:r>
              <a:rPr lang="en-US" altLang="zh-CN" b="0" i="0" dirty="0">
                <a:solidFill>
                  <a:srgbClr val="333333"/>
                </a:solidFill>
                <a:effectLst/>
                <a:latin typeface="+mn-ea"/>
              </a:rPr>
              <a:t>2</a:t>
            </a:r>
            <a:r>
              <a:rPr lang="zh-CN" altLang="en-US" b="0" i="0" dirty="0">
                <a:solidFill>
                  <a:srgbClr val="333333"/>
                </a:solidFill>
                <a:effectLst/>
                <a:latin typeface="+mn-ea"/>
              </a:rPr>
              <a:t>人一组，总数据不少于</a:t>
            </a:r>
            <a:r>
              <a:rPr lang="en-US" altLang="zh-CN" b="0" i="0" dirty="0">
                <a:solidFill>
                  <a:srgbClr val="333333"/>
                </a:solidFill>
                <a:effectLst/>
                <a:latin typeface="+mn-ea"/>
              </a:rPr>
              <a:t>500</a:t>
            </a:r>
            <a:r>
              <a:rPr lang="zh-CN" altLang="en-US" b="0" i="0" dirty="0">
                <a:solidFill>
                  <a:srgbClr val="333333"/>
                </a:solidFill>
                <a:effectLst/>
                <a:latin typeface="+mn-ea"/>
              </a:rPr>
              <a:t>，三人一组，总数据不少于</a:t>
            </a:r>
            <a:r>
              <a:rPr lang="en-US" altLang="zh-CN" b="0" i="0" dirty="0">
                <a:solidFill>
                  <a:srgbClr val="333333"/>
                </a:solidFill>
                <a:effectLst/>
                <a:latin typeface="+mn-ea"/>
              </a:rPr>
              <a:t>800</a:t>
            </a:r>
          </a:p>
          <a:p>
            <a:pPr marL="285750" indent="-285750">
              <a:lnSpc>
                <a:spcPct val="150000"/>
              </a:lnSpc>
              <a:buFont typeface="Wingdings" panose="05000000000000000000" pitchFamily="2" charset="2"/>
              <a:buChar char="Ø"/>
            </a:pPr>
            <a:r>
              <a:rPr lang="en-US" altLang="zh-CN" b="0" i="0" dirty="0">
                <a:solidFill>
                  <a:srgbClr val="333333"/>
                </a:solidFill>
                <a:effectLst/>
                <a:latin typeface="PingFang SC"/>
              </a:rPr>
              <a:t> </a:t>
            </a:r>
            <a:r>
              <a:rPr lang="zh-CN" altLang="en-US" b="0" i="0" dirty="0">
                <a:solidFill>
                  <a:srgbClr val="333333"/>
                </a:solidFill>
                <a:effectLst/>
                <a:latin typeface="PingFang SC"/>
              </a:rPr>
              <a:t>可以选择电视信号或广播信号，</a:t>
            </a:r>
            <a:r>
              <a:rPr lang="zh-CN" altLang="en-US" b="1" i="0" dirty="0">
                <a:solidFill>
                  <a:srgbClr val="FF0000"/>
                </a:solidFill>
                <a:effectLst/>
                <a:latin typeface="PingFang SC"/>
              </a:rPr>
              <a:t>但必须打开外放保证频点有效</a:t>
            </a:r>
            <a:r>
              <a:rPr lang="zh-CN" altLang="en-US" b="0" i="0" dirty="0">
                <a:solidFill>
                  <a:srgbClr val="333333"/>
                </a:solidFill>
                <a:effectLst/>
                <a:latin typeface="PingFang SC"/>
              </a:rPr>
              <a:t>，设置好频点后，每隔半波长记录一个数据</a:t>
            </a:r>
            <a:r>
              <a:rPr lang="en-US" altLang="zh-CN" b="0" i="0" dirty="0">
                <a:solidFill>
                  <a:srgbClr val="333333"/>
                </a:solidFill>
                <a:effectLst/>
                <a:latin typeface="PingFang SC"/>
              </a:rPr>
              <a:t>(</a:t>
            </a:r>
            <a:r>
              <a:rPr lang="zh-CN" altLang="en-US" b="0" i="0" dirty="0">
                <a:solidFill>
                  <a:srgbClr val="333333"/>
                </a:solidFill>
                <a:effectLst/>
                <a:latin typeface="PingFang SC"/>
              </a:rPr>
              <a:t>设备无数据记录功能，需手动记录数据</a:t>
            </a:r>
            <a:r>
              <a:rPr lang="en-US" altLang="zh-CN" b="0" i="0" dirty="0">
                <a:solidFill>
                  <a:srgbClr val="333333"/>
                </a:solidFill>
                <a:effectLst/>
                <a:latin typeface="PingFang SC"/>
              </a:rPr>
              <a:t>)</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r>
              <a:rPr lang="en-US" altLang="zh-CN" dirty="0">
                <a:solidFill>
                  <a:srgbClr val="333333"/>
                </a:solidFill>
                <a:latin typeface="PingFang SC"/>
              </a:rPr>
              <a:t> </a:t>
            </a:r>
            <a:r>
              <a:rPr lang="zh-CN" altLang="en-US" dirty="0">
                <a:solidFill>
                  <a:srgbClr val="333333"/>
                </a:solidFill>
                <a:latin typeface="PingFang SC"/>
              </a:rPr>
              <a:t>测量时保证仪表和身体的距离及角度高度不变，行进路线要一致</a:t>
            </a:r>
            <a:r>
              <a:rPr lang="en-US" altLang="zh-CN" dirty="0">
                <a:solidFill>
                  <a:srgbClr val="333333"/>
                </a:solidFill>
                <a:latin typeface="PingFang SC"/>
              </a:rPr>
              <a:t>(</a:t>
            </a:r>
            <a:r>
              <a:rPr lang="zh-CN" altLang="en-US" dirty="0">
                <a:solidFill>
                  <a:srgbClr val="333333"/>
                </a:solidFill>
                <a:latin typeface="PingFang SC"/>
              </a:rPr>
              <a:t>一直顺时针或者一直逆时针</a:t>
            </a:r>
            <a:r>
              <a:rPr lang="en-US" altLang="zh-CN" dirty="0">
                <a:solidFill>
                  <a:srgbClr val="333333"/>
                </a:solidFill>
                <a:latin typeface="PingFang SC"/>
              </a:rPr>
              <a:t>)</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r>
              <a:rPr lang="en-US" altLang="zh-CN" dirty="0">
                <a:solidFill>
                  <a:srgbClr val="333333"/>
                </a:solidFill>
                <a:latin typeface="PingFang SC"/>
              </a:rPr>
              <a:t> </a:t>
            </a:r>
            <a:r>
              <a:rPr lang="zh-CN" altLang="en-US" dirty="0">
                <a:solidFill>
                  <a:srgbClr val="333333"/>
                </a:solidFill>
                <a:latin typeface="PingFang SC"/>
              </a:rPr>
              <a:t>每个地点数据大于</a:t>
            </a:r>
            <a:r>
              <a:rPr lang="en-US" altLang="zh-CN" dirty="0">
                <a:solidFill>
                  <a:srgbClr val="333333"/>
                </a:solidFill>
                <a:latin typeface="PingFang SC"/>
              </a:rPr>
              <a:t>50</a:t>
            </a:r>
            <a:r>
              <a:rPr lang="zh-CN" altLang="en-US" dirty="0">
                <a:solidFill>
                  <a:srgbClr val="333333"/>
                </a:solidFill>
                <a:latin typeface="PingFang SC"/>
              </a:rPr>
              <a:t>个</a:t>
            </a:r>
            <a:endParaRPr lang="en-US" altLang="zh-CN" dirty="0">
              <a:solidFill>
                <a:srgbClr val="333333"/>
              </a:solidFill>
              <a:latin typeface="PingFang SC"/>
            </a:endParaRPr>
          </a:p>
          <a:p>
            <a:pPr marL="285750" indent="-285750">
              <a:lnSpc>
                <a:spcPct val="150000"/>
              </a:lnSpc>
              <a:buFont typeface="Wingdings" panose="05000000000000000000" pitchFamily="2" charset="2"/>
              <a:buChar char="Ø"/>
            </a:pPr>
            <a:r>
              <a:rPr lang="en-US" altLang="zh-CN" b="0" i="0" dirty="0">
                <a:solidFill>
                  <a:srgbClr val="333333"/>
                </a:solidFill>
                <a:effectLst/>
                <a:latin typeface="PingFang SC"/>
              </a:rPr>
              <a:t> </a:t>
            </a:r>
            <a:r>
              <a:rPr lang="zh-CN" altLang="en-US" b="0" i="0" dirty="0">
                <a:solidFill>
                  <a:srgbClr val="333333"/>
                </a:solidFill>
                <a:effectLst/>
                <a:latin typeface="PingFang SC"/>
              </a:rPr>
              <a:t>涉及穿透损耗的分析，所以需要测量同一个建筑物的室内和室外</a:t>
            </a:r>
            <a:r>
              <a:rPr lang="en-US" altLang="zh-CN" b="0" i="0" dirty="0">
                <a:solidFill>
                  <a:srgbClr val="333333"/>
                </a:solidFill>
                <a:effectLst/>
                <a:latin typeface="PingFang SC"/>
              </a:rPr>
              <a:t>(</a:t>
            </a:r>
            <a:r>
              <a:rPr lang="zh-CN" altLang="en-US" b="0" i="0" dirty="0">
                <a:solidFill>
                  <a:srgbClr val="333333"/>
                </a:solidFill>
                <a:effectLst/>
                <a:latin typeface="PingFang SC"/>
              </a:rPr>
              <a:t>教一教二砖石结构，教三主楼为混凝土结构</a:t>
            </a:r>
            <a:r>
              <a:rPr lang="en-US" altLang="zh-CN" b="0" i="0" dirty="0">
                <a:solidFill>
                  <a:srgbClr val="333333"/>
                </a:solidFill>
                <a:effectLst/>
                <a:latin typeface="PingFang SC"/>
              </a:rPr>
              <a:t>)</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r>
              <a:rPr lang="en-US" altLang="zh-CN" dirty="0">
                <a:solidFill>
                  <a:srgbClr val="333333"/>
                </a:solidFill>
                <a:latin typeface="PingFang SC"/>
              </a:rPr>
              <a:t> </a:t>
            </a:r>
            <a:r>
              <a:rPr lang="zh-CN" altLang="en-US" dirty="0">
                <a:solidFill>
                  <a:srgbClr val="333333"/>
                </a:solidFill>
                <a:latin typeface="PingFang SC"/>
              </a:rPr>
              <a:t>如果固定位置不变出现电平不断变化导致无法读数，遵循一套自己的读数规则即可。</a:t>
            </a:r>
            <a:endParaRPr lang="en-US" altLang="zh-CN" dirty="0">
              <a:solidFill>
                <a:srgbClr val="333333"/>
              </a:solidFill>
              <a:latin typeface="PingFang SC"/>
            </a:endParaRPr>
          </a:p>
          <a:p>
            <a:pPr marL="285750" indent="-285750">
              <a:lnSpc>
                <a:spcPct val="150000"/>
              </a:lnSpc>
              <a:buFont typeface="Wingdings" panose="05000000000000000000" pitchFamily="2" charset="2"/>
              <a:buChar char="Ø"/>
            </a:pPr>
            <a:r>
              <a:rPr lang="en-US" altLang="zh-CN" b="0" i="0" dirty="0">
                <a:solidFill>
                  <a:srgbClr val="333333"/>
                </a:solidFill>
                <a:effectLst/>
                <a:latin typeface="PingFang SC"/>
              </a:rPr>
              <a:t> </a:t>
            </a:r>
            <a:r>
              <a:rPr lang="zh-CN" altLang="en-US" b="0" i="0" dirty="0">
                <a:solidFill>
                  <a:srgbClr val="333333"/>
                </a:solidFill>
                <a:effectLst/>
                <a:latin typeface="PingFang SC"/>
              </a:rPr>
              <a:t>其他注意事项参见讲义</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r>
              <a:rPr lang="en-US" altLang="zh-CN" dirty="0">
                <a:solidFill>
                  <a:srgbClr val="333333"/>
                </a:solidFill>
                <a:latin typeface="PingFang SC"/>
              </a:rPr>
              <a:t> </a:t>
            </a:r>
            <a:r>
              <a:rPr lang="zh-CN" altLang="en-US" dirty="0">
                <a:solidFill>
                  <a:srgbClr val="333333"/>
                </a:solidFill>
                <a:latin typeface="PingFang SC"/>
              </a:rPr>
              <a:t>周二下午广播台检修</a:t>
            </a: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en-US" altLang="zh-CN" dirty="0">
              <a:solidFill>
                <a:srgbClr val="333333"/>
              </a:solidFill>
              <a:latin typeface="PingFang SC"/>
            </a:endParaRPr>
          </a:p>
          <a:p>
            <a:pPr marL="285750" indent="-285750">
              <a:lnSpc>
                <a:spcPct val="150000"/>
              </a:lnSpc>
              <a:buFont typeface="Wingdings" panose="05000000000000000000" pitchFamily="2" charset="2"/>
              <a:buChar char="Ø"/>
            </a:pPr>
            <a:endParaRPr lang="en-US" altLang="zh-CN" b="0" i="0" dirty="0">
              <a:solidFill>
                <a:srgbClr val="333333"/>
              </a:solidFill>
              <a:effectLst/>
              <a:latin typeface="PingFang SC"/>
            </a:endParaRPr>
          </a:p>
          <a:p>
            <a:pPr marL="285750" indent="-285750">
              <a:lnSpc>
                <a:spcPct val="150000"/>
              </a:lnSpc>
              <a:buFont typeface="Wingdings" panose="05000000000000000000" pitchFamily="2" charset="2"/>
              <a:buChar char="Ø"/>
            </a:pPr>
            <a:endParaRPr lang="zh-CN" altLang="en-US" dirty="0">
              <a:latin typeface="+mn-ea"/>
            </a:endParaRPr>
          </a:p>
        </p:txBody>
      </p:sp>
    </p:spTree>
    <p:extLst>
      <p:ext uri="{BB962C8B-B14F-4D97-AF65-F5344CB8AC3E}">
        <p14:creationId xmlns:p14="http://schemas.microsoft.com/office/powerpoint/2010/main" val="23871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84B2C2-CAB3-FBB4-C195-756F64C2F1D6}"/>
              </a:ext>
            </a:extLst>
          </p:cNvPr>
          <p:cNvGrpSpPr/>
          <p:nvPr/>
        </p:nvGrpSpPr>
        <p:grpSpPr>
          <a:xfrm>
            <a:off x="267399" y="881127"/>
            <a:ext cx="8625081" cy="5716225"/>
            <a:chOff x="768859" y="579121"/>
            <a:chExt cx="10654282" cy="5791200"/>
          </a:xfrm>
        </p:grpSpPr>
        <p:sp>
          <p:nvSpPr>
            <p:cNvPr id="3" name="矩形 2">
              <a:extLst>
                <a:ext uri="{FF2B5EF4-FFF2-40B4-BE49-F238E27FC236}">
                  <a16:creationId xmlns:a16="http://schemas.microsoft.com/office/drawing/2014/main" id="{2E5CB3DF-F24A-9111-14F6-5C667926CC21}"/>
                </a:ext>
              </a:extLst>
            </p:cNvPr>
            <p:cNvSpPr/>
            <p:nvPr/>
          </p:nvSpPr>
          <p:spPr>
            <a:xfrm>
              <a:off x="768859" y="579121"/>
              <a:ext cx="10654282" cy="5791200"/>
            </a:xfrm>
            <a:prstGeom prst="rect">
              <a:avLst/>
            </a:prstGeom>
            <a:solidFill>
              <a:srgbClr val="FFFFFF"/>
            </a:solidFill>
            <a:ln>
              <a:noFill/>
            </a:ln>
            <a:effectLst>
              <a:outerShdw blurRad="2667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2" descr="G:\PPT素材库\B素材\简约大气绚丽深紫色渐变背景\C背景图\3a87e52a5b1559cc07cb90ee33d06a12.png">
              <a:extLst>
                <a:ext uri="{FF2B5EF4-FFF2-40B4-BE49-F238E27FC236}">
                  <a16:creationId xmlns:a16="http://schemas.microsoft.com/office/drawing/2014/main" id="{BDFD9BA9-895A-04DE-04E7-E5447ECB94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V="1">
              <a:off x="9967404" y="4814652"/>
              <a:ext cx="1455737" cy="1555666"/>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Synergistically utilize technically sound portals with frictionless chains. Dramatically customize…">
            <a:extLst>
              <a:ext uri="{FF2B5EF4-FFF2-40B4-BE49-F238E27FC236}">
                <a16:creationId xmlns:a16="http://schemas.microsoft.com/office/drawing/2014/main" id="{D8CAB2B0-369E-B412-B286-0302E9AC868F}"/>
              </a:ext>
            </a:extLst>
          </p:cNvPr>
          <p:cNvSpPr txBox="1"/>
          <p:nvPr/>
        </p:nvSpPr>
        <p:spPr>
          <a:xfrm>
            <a:off x="1384593" y="2125207"/>
            <a:ext cx="2388385" cy="276999"/>
          </a:xfrm>
          <a:prstGeom prst="rect">
            <a:avLst/>
          </a:prstGeom>
          <a:ln w="12700">
            <a:miter lim="400000"/>
          </a:ln>
        </p:spPr>
        <p:txBody>
          <a:bodyPr wrap="square" lIns="0" tIns="0" rIns="0" bIns="0">
            <a:spAutoFit/>
          </a:bodyPr>
          <a:lstStyle/>
          <a:p>
            <a:endParaRPr lang="zh-CN" altLang="zh-CN" dirty="0">
              <a:solidFill>
                <a:schemeClr val="tx2"/>
              </a:solidFill>
            </a:endParaRPr>
          </a:p>
        </p:txBody>
      </p:sp>
      <p:sp>
        <p:nvSpPr>
          <p:cNvPr id="6" name="矩形 5">
            <a:extLst>
              <a:ext uri="{FF2B5EF4-FFF2-40B4-BE49-F238E27FC236}">
                <a16:creationId xmlns:a16="http://schemas.microsoft.com/office/drawing/2014/main" id="{2657CD21-C7A6-5EDB-C2E0-D25DE1E00FCB}"/>
              </a:ext>
            </a:extLst>
          </p:cNvPr>
          <p:cNvSpPr/>
          <p:nvPr/>
        </p:nvSpPr>
        <p:spPr>
          <a:xfrm>
            <a:off x="267399" y="240546"/>
            <a:ext cx="7112913" cy="584775"/>
          </a:xfrm>
          <a:prstGeom prst="rect">
            <a:avLst/>
          </a:prstGeom>
        </p:spPr>
        <p:txBody>
          <a:bodyPr wrap="square">
            <a:spAutoFit/>
          </a:bodyPr>
          <a:lstStyle/>
          <a:p>
            <a:pPr algn="ctr" defTabSz="514350">
              <a:defRPr/>
            </a:pPr>
            <a:r>
              <a:rPr lang="zh-CN" altLang="en-US" sz="32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实验设备    </a:t>
            </a:r>
            <a:r>
              <a:rPr lang="zh-CN" altLang="en-US" sz="18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手持场强仪    </a:t>
            </a:r>
            <a:r>
              <a:rPr lang="en-US" altLang="zh-CN" b="1" kern="1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MS9802Q</a:t>
            </a:r>
            <a:endParaRPr lang="zh-CN" altLang="en-US" dirty="0">
              <a:solidFill>
                <a:srgbClr val="C00000"/>
              </a:solidFill>
            </a:endParaRPr>
          </a:p>
        </p:txBody>
      </p:sp>
      <p:sp>
        <p:nvSpPr>
          <p:cNvPr id="13" name="文本框 12">
            <a:extLst>
              <a:ext uri="{FF2B5EF4-FFF2-40B4-BE49-F238E27FC236}">
                <a16:creationId xmlns:a16="http://schemas.microsoft.com/office/drawing/2014/main" id="{40D7FD12-E301-DEBB-B087-4EC5D2BBB3C4}"/>
              </a:ext>
            </a:extLst>
          </p:cNvPr>
          <p:cNvSpPr txBox="1"/>
          <p:nvPr/>
        </p:nvSpPr>
        <p:spPr>
          <a:xfrm>
            <a:off x="588159" y="4276456"/>
            <a:ext cx="7535634" cy="2104872"/>
          </a:xfrm>
          <a:prstGeom prst="rect">
            <a:avLst/>
          </a:prstGeom>
          <a:noFill/>
        </p:spPr>
        <p:txBody>
          <a:bodyPr wrap="square">
            <a:spAutoFit/>
          </a:bodyPr>
          <a:lstStyle/>
          <a:p>
            <a:pPr algn="l">
              <a:lnSpc>
                <a:spcPct val="150000"/>
              </a:lnSpc>
            </a:pPr>
            <a:r>
              <a:rPr lang="zh-CN" altLang="en-US" sz="1800" b="0" dirty="0">
                <a:solidFill>
                  <a:srgbClr val="333333"/>
                </a:solidFill>
                <a:effectLst/>
                <a:latin typeface="+mn-ea"/>
              </a:rPr>
              <a:t>● </a:t>
            </a:r>
            <a:r>
              <a:rPr lang="en-US" altLang="zh-CN" dirty="0">
                <a:solidFill>
                  <a:srgbClr val="333333"/>
                </a:solidFill>
                <a:latin typeface="+mn-ea"/>
              </a:rPr>
              <a:t>47</a:t>
            </a:r>
            <a:r>
              <a:rPr lang="en-US" altLang="zh-CN" sz="1800" b="0" dirty="0">
                <a:solidFill>
                  <a:srgbClr val="333333"/>
                </a:solidFill>
                <a:effectLst/>
                <a:latin typeface="+mn-ea"/>
              </a:rPr>
              <a:t>MHz - 870MHz</a:t>
            </a:r>
            <a:r>
              <a:rPr lang="zh-CN" altLang="en-US" sz="1800" b="0" dirty="0">
                <a:solidFill>
                  <a:srgbClr val="333333"/>
                </a:solidFill>
                <a:effectLst/>
                <a:latin typeface="+mn-ea"/>
              </a:rPr>
              <a:t>的简易频谱分析，</a:t>
            </a:r>
            <a:r>
              <a:rPr lang="zh-CN" altLang="en-US" sz="1800" b="1" dirty="0">
                <a:solidFill>
                  <a:srgbClr val="FF0000"/>
                </a:solidFill>
                <a:effectLst/>
                <a:latin typeface="+mn-ea"/>
              </a:rPr>
              <a:t>频谱单位</a:t>
            </a:r>
            <a:r>
              <a:rPr lang="en-US" altLang="zh-CN" sz="1800" b="1" dirty="0">
                <a:solidFill>
                  <a:srgbClr val="FF0000"/>
                </a:solidFill>
                <a:effectLst/>
                <a:latin typeface="+mn-ea"/>
              </a:rPr>
              <a:t>MHz</a:t>
            </a:r>
            <a:r>
              <a:rPr lang="zh-CN" altLang="en-US" sz="1800" b="1" dirty="0">
                <a:solidFill>
                  <a:srgbClr val="FF0000"/>
                </a:solidFill>
                <a:effectLst/>
                <a:latin typeface="+mn-ea"/>
              </a:rPr>
              <a:t>，电平单位</a:t>
            </a:r>
            <a:r>
              <a:rPr lang="en-US" altLang="zh-CN" sz="1800" b="1" dirty="0" err="1">
                <a:solidFill>
                  <a:srgbClr val="FF0000"/>
                </a:solidFill>
                <a:effectLst/>
                <a:latin typeface="+mn-ea"/>
              </a:rPr>
              <a:t>dBuV</a:t>
            </a:r>
            <a:r>
              <a:rPr lang="zh-CN" altLang="en-US" sz="1800" b="1" dirty="0">
                <a:solidFill>
                  <a:srgbClr val="FF0000"/>
                </a:solidFill>
                <a:effectLst/>
                <a:latin typeface="+mn-ea"/>
              </a:rPr>
              <a:t>；</a:t>
            </a:r>
          </a:p>
          <a:p>
            <a:pPr algn="l">
              <a:lnSpc>
                <a:spcPct val="150000"/>
              </a:lnSpc>
            </a:pPr>
            <a:r>
              <a:rPr lang="zh-CN" altLang="en-US" sz="1800" b="0" dirty="0">
                <a:solidFill>
                  <a:srgbClr val="333333"/>
                </a:solidFill>
                <a:effectLst/>
                <a:latin typeface="+mn-ea"/>
              </a:rPr>
              <a:t>● </a:t>
            </a:r>
            <a:r>
              <a:rPr lang="zh-CN" altLang="en-US" sz="1800" b="1" dirty="0">
                <a:solidFill>
                  <a:srgbClr val="FF0000"/>
                </a:solidFill>
                <a:effectLst/>
                <a:latin typeface="+mn-ea"/>
              </a:rPr>
              <a:t>数字电视</a:t>
            </a:r>
            <a:r>
              <a:rPr lang="en-US" altLang="zh-CN" b="1" dirty="0">
                <a:solidFill>
                  <a:srgbClr val="FF0000"/>
                </a:solidFill>
                <a:latin typeface="+mn-ea"/>
              </a:rPr>
              <a:t>(CHD)</a:t>
            </a:r>
            <a:r>
              <a:rPr lang="zh-CN" altLang="en-US" sz="1800" b="0" dirty="0">
                <a:solidFill>
                  <a:srgbClr val="333333"/>
                </a:solidFill>
                <a:effectLst/>
                <a:latin typeface="+mn-ea"/>
              </a:rPr>
              <a:t>关键指标分析：平均功率，</a:t>
            </a:r>
            <a:r>
              <a:rPr lang="en-US" altLang="zh-CN" sz="1800" b="0" dirty="0">
                <a:solidFill>
                  <a:srgbClr val="333333"/>
                </a:solidFill>
                <a:effectLst/>
                <a:latin typeface="+mn-ea"/>
              </a:rPr>
              <a:t>MER</a:t>
            </a:r>
            <a:r>
              <a:rPr lang="zh-CN" altLang="en-US" sz="1800" b="0" dirty="0">
                <a:solidFill>
                  <a:srgbClr val="333333"/>
                </a:solidFill>
                <a:effectLst/>
                <a:latin typeface="+mn-ea"/>
              </a:rPr>
              <a:t>，</a:t>
            </a:r>
            <a:r>
              <a:rPr lang="en-US" altLang="zh-CN" sz="1800" b="0" dirty="0">
                <a:solidFill>
                  <a:srgbClr val="333333"/>
                </a:solidFill>
                <a:effectLst/>
                <a:latin typeface="+mn-ea"/>
              </a:rPr>
              <a:t>BER</a:t>
            </a:r>
            <a:r>
              <a:rPr lang="zh-CN" altLang="en-US" sz="1800" b="0" dirty="0">
                <a:solidFill>
                  <a:srgbClr val="333333"/>
                </a:solidFill>
                <a:effectLst/>
                <a:latin typeface="+mn-ea"/>
              </a:rPr>
              <a:t>；</a:t>
            </a:r>
            <a:endParaRPr lang="en-US" altLang="zh-CN" sz="1800" b="0" dirty="0">
              <a:solidFill>
                <a:srgbClr val="333333"/>
              </a:solidFill>
              <a:effectLst/>
              <a:latin typeface="+mn-ea"/>
            </a:endParaRPr>
          </a:p>
          <a:p>
            <a:pPr algn="l">
              <a:lnSpc>
                <a:spcPct val="150000"/>
              </a:lnSpc>
            </a:pPr>
            <a:r>
              <a:rPr lang="en-US" altLang="zh-CN" sz="1800" b="0" dirty="0">
                <a:solidFill>
                  <a:srgbClr val="333333"/>
                </a:solidFill>
                <a:effectLst/>
                <a:latin typeface="+mn-ea"/>
              </a:rPr>
              <a:t>● </a:t>
            </a:r>
            <a:r>
              <a:rPr lang="zh-CN" altLang="en-US" sz="1800" b="1" dirty="0">
                <a:solidFill>
                  <a:srgbClr val="FF0000"/>
                </a:solidFill>
                <a:effectLst/>
                <a:latin typeface="+mn-ea"/>
              </a:rPr>
              <a:t>模拟电视</a:t>
            </a:r>
            <a:r>
              <a:rPr lang="en-US" altLang="zh-CN" sz="1800" b="1" dirty="0">
                <a:solidFill>
                  <a:srgbClr val="FF0000"/>
                </a:solidFill>
                <a:effectLst/>
                <a:latin typeface="+mn-ea"/>
              </a:rPr>
              <a:t>(CHV,CHA)</a:t>
            </a:r>
            <a:r>
              <a:rPr lang="zh-CN" altLang="en-US" sz="1800" b="0" dirty="0">
                <a:solidFill>
                  <a:srgbClr val="333333"/>
                </a:solidFill>
                <a:effectLst/>
                <a:latin typeface="+mn-ea"/>
              </a:rPr>
              <a:t>关键指标分析：电平、</a:t>
            </a:r>
            <a:r>
              <a:rPr lang="en-US" altLang="zh-CN" sz="1800" b="0" dirty="0">
                <a:solidFill>
                  <a:srgbClr val="333333"/>
                </a:solidFill>
                <a:effectLst/>
                <a:latin typeface="+mn-ea"/>
              </a:rPr>
              <a:t>V/A</a:t>
            </a:r>
            <a:r>
              <a:rPr lang="zh-CN" altLang="en-US" sz="1800" b="0" dirty="0">
                <a:solidFill>
                  <a:srgbClr val="333333"/>
                </a:solidFill>
                <a:effectLst/>
                <a:latin typeface="+mn-ea"/>
              </a:rPr>
              <a:t>；</a:t>
            </a:r>
            <a:endParaRPr lang="en-US" altLang="zh-CN" sz="1800" b="0" dirty="0">
              <a:solidFill>
                <a:srgbClr val="333333"/>
              </a:solidFill>
              <a:effectLst/>
              <a:latin typeface="+mn-ea"/>
            </a:endParaRPr>
          </a:p>
          <a:p>
            <a:pPr algn="l">
              <a:lnSpc>
                <a:spcPct val="150000"/>
              </a:lnSpc>
            </a:pPr>
            <a:r>
              <a:rPr lang="en-US" altLang="zh-CN" sz="1800" b="0" dirty="0">
                <a:solidFill>
                  <a:srgbClr val="333333"/>
                </a:solidFill>
                <a:effectLst/>
                <a:latin typeface="+mn-ea"/>
              </a:rPr>
              <a:t>●</a:t>
            </a:r>
            <a:r>
              <a:rPr lang="zh-CN" altLang="en-US" dirty="0">
                <a:solidFill>
                  <a:srgbClr val="333333"/>
                </a:solidFill>
                <a:latin typeface="+mn-ea"/>
              </a:rPr>
              <a:t> 电平测量范围</a:t>
            </a:r>
            <a:r>
              <a:rPr lang="en-US" altLang="zh-CN" dirty="0">
                <a:solidFill>
                  <a:srgbClr val="333333"/>
                </a:solidFill>
                <a:latin typeface="+mn-ea"/>
              </a:rPr>
              <a:t>20dBuV-120dBuV</a:t>
            </a:r>
            <a:r>
              <a:rPr lang="zh-CN" altLang="en-US" dirty="0">
                <a:solidFill>
                  <a:srgbClr val="333333"/>
                </a:solidFill>
                <a:latin typeface="+mn-ea"/>
              </a:rPr>
              <a:t>，测量精度正负</a:t>
            </a:r>
            <a:r>
              <a:rPr lang="en-US" altLang="zh-CN" dirty="0">
                <a:solidFill>
                  <a:srgbClr val="333333"/>
                </a:solidFill>
                <a:latin typeface="+mn-ea"/>
              </a:rPr>
              <a:t>1.5dB</a:t>
            </a:r>
            <a:endParaRPr lang="zh-CN" altLang="en-US" sz="1800" b="0" dirty="0">
              <a:solidFill>
                <a:srgbClr val="333333"/>
              </a:solidFill>
              <a:effectLst/>
              <a:latin typeface="+mn-ea"/>
            </a:endParaRPr>
          </a:p>
          <a:p>
            <a:pPr algn="l">
              <a:lnSpc>
                <a:spcPct val="150000"/>
              </a:lnSpc>
            </a:pPr>
            <a:r>
              <a:rPr lang="zh-CN" altLang="en-US" sz="1800" b="0" dirty="0">
                <a:solidFill>
                  <a:srgbClr val="333333"/>
                </a:solidFill>
                <a:effectLst/>
                <a:latin typeface="+mn-ea"/>
              </a:rPr>
              <a:t>● 分辨率</a:t>
            </a:r>
            <a:r>
              <a:rPr lang="en-US" altLang="zh-CN" sz="1800" b="0" dirty="0">
                <a:solidFill>
                  <a:srgbClr val="333333"/>
                </a:solidFill>
                <a:effectLst/>
                <a:latin typeface="+mn-ea"/>
              </a:rPr>
              <a:t>0.1dB</a:t>
            </a:r>
            <a:r>
              <a:rPr lang="zh-CN" altLang="en-US" sz="1800" b="0" dirty="0">
                <a:solidFill>
                  <a:srgbClr val="333333"/>
                </a:solidFill>
                <a:effectLst/>
                <a:latin typeface="+mn-ea"/>
              </a:rPr>
              <a:t>；检波方式峰值检波；输入阻抗</a:t>
            </a:r>
            <a:r>
              <a:rPr lang="en-US" altLang="zh-CN" sz="1800" b="0" dirty="0">
                <a:solidFill>
                  <a:srgbClr val="333333"/>
                </a:solidFill>
                <a:effectLst/>
                <a:latin typeface="+mn-ea"/>
              </a:rPr>
              <a:t>75</a:t>
            </a:r>
            <a:r>
              <a:rPr lang="zh-CN" altLang="en-US" sz="1800" b="0" dirty="0">
                <a:solidFill>
                  <a:srgbClr val="333333"/>
                </a:solidFill>
                <a:effectLst/>
                <a:latin typeface="+mn-ea"/>
              </a:rPr>
              <a:t>欧</a:t>
            </a:r>
          </a:p>
        </p:txBody>
      </p:sp>
      <p:pic>
        <p:nvPicPr>
          <p:cNvPr id="10" name="图片 9">
            <a:extLst>
              <a:ext uri="{FF2B5EF4-FFF2-40B4-BE49-F238E27FC236}">
                <a16:creationId xmlns:a16="http://schemas.microsoft.com/office/drawing/2014/main" id="{FD100040-AD23-C16C-FCB5-C9FE527EB5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47206" y="970076"/>
            <a:ext cx="3636717" cy="3090356"/>
          </a:xfrm>
          <a:prstGeom prst="rect">
            <a:avLst/>
          </a:prstGeom>
        </p:spPr>
      </p:pic>
      <p:sp>
        <p:nvSpPr>
          <p:cNvPr id="9" name="椭圆 8">
            <a:extLst>
              <a:ext uri="{FF2B5EF4-FFF2-40B4-BE49-F238E27FC236}">
                <a16:creationId xmlns:a16="http://schemas.microsoft.com/office/drawing/2014/main" id="{083BA786-1803-9D4A-28B9-1D5A0A96F7D1}"/>
              </a:ext>
            </a:extLst>
          </p:cNvPr>
          <p:cNvSpPr/>
          <p:nvPr/>
        </p:nvSpPr>
        <p:spPr>
          <a:xfrm>
            <a:off x="1115616" y="2276872"/>
            <a:ext cx="1728192" cy="5760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r>
              <a:rPr lang="zh-CN" altLang="en-US" dirty="0"/>
              <a:t>号液晶位</a:t>
            </a:r>
          </a:p>
        </p:txBody>
      </p:sp>
      <p:sp>
        <p:nvSpPr>
          <p:cNvPr id="11" name="椭圆 10">
            <a:extLst>
              <a:ext uri="{FF2B5EF4-FFF2-40B4-BE49-F238E27FC236}">
                <a16:creationId xmlns:a16="http://schemas.microsoft.com/office/drawing/2014/main" id="{52FFCAB9-1633-4C1E-0DD3-A629E3B3D287}"/>
              </a:ext>
            </a:extLst>
          </p:cNvPr>
          <p:cNvSpPr/>
          <p:nvPr/>
        </p:nvSpPr>
        <p:spPr>
          <a:xfrm>
            <a:off x="5810009" y="2232874"/>
            <a:ext cx="1728192" cy="5760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r>
              <a:rPr lang="zh-CN" altLang="en-US" dirty="0"/>
              <a:t>号液晶位</a:t>
            </a:r>
          </a:p>
        </p:txBody>
      </p:sp>
      <p:sp>
        <p:nvSpPr>
          <p:cNvPr id="12" name="椭圆 11">
            <a:extLst>
              <a:ext uri="{FF2B5EF4-FFF2-40B4-BE49-F238E27FC236}">
                <a16:creationId xmlns:a16="http://schemas.microsoft.com/office/drawing/2014/main" id="{B78CE3C5-F814-733D-EFD7-6120F2A7C058}"/>
              </a:ext>
            </a:extLst>
          </p:cNvPr>
          <p:cNvSpPr/>
          <p:nvPr/>
        </p:nvSpPr>
        <p:spPr>
          <a:xfrm>
            <a:off x="883199" y="1473311"/>
            <a:ext cx="1728192" cy="5760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r>
              <a:rPr lang="zh-CN" altLang="en-US" dirty="0"/>
              <a:t>号液晶位</a:t>
            </a:r>
          </a:p>
        </p:txBody>
      </p:sp>
      <p:sp>
        <p:nvSpPr>
          <p:cNvPr id="14" name="椭圆 13">
            <a:extLst>
              <a:ext uri="{FF2B5EF4-FFF2-40B4-BE49-F238E27FC236}">
                <a16:creationId xmlns:a16="http://schemas.microsoft.com/office/drawing/2014/main" id="{7D834581-451B-F9EC-EE62-C6F007E0902A}"/>
              </a:ext>
            </a:extLst>
          </p:cNvPr>
          <p:cNvSpPr/>
          <p:nvPr/>
        </p:nvSpPr>
        <p:spPr>
          <a:xfrm>
            <a:off x="5810009" y="1390515"/>
            <a:ext cx="1728192" cy="5760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r>
              <a:rPr lang="zh-CN" altLang="en-US" dirty="0"/>
              <a:t>号液晶位</a:t>
            </a:r>
          </a:p>
        </p:txBody>
      </p:sp>
    </p:spTree>
    <p:extLst>
      <p:ext uri="{BB962C8B-B14F-4D97-AF65-F5344CB8AC3E}">
        <p14:creationId xmlns:p14="http://schemas.microsoft.com/office/powerpoint/2010/main" val="100363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4AC4531F-45A3-1144-1F41-817B968FA673}"/>
              </a:ext>
            </a:extLst>
          </p:cNvPr>
          <p:cNvGrpSpPr/>
          <p:nvPr/>
        </p:nvGrpSpPr>
        <p:grpSpPr>
          <a:xfrm>
            <a:off x="251521" y="814624"/>
            <a:ext cx="8640960" cy="5813527"/>
            <a:chOff x="768859" y="579121"/>
            <a:chExt cx="10654282" cy="5791200"/>
          </a:xfrm>
        </p:grpSpPr>
        <p:sp>
          <p:nvSpPr>
            <p:cNvPr id="15" name="矩形 14">
              <a:extLst>
                <a:ext uri="{FF2B5EF4-FFF2-40B4-BE49-F238E27FC236}">
                  <a16:creationId xmlns:a16="http://schemas.microsoft.com/office/drawing/2014/main" id="{9DDF04CA-65BC-46B9-3100-93CF97C41B2F}"/>
                </a:ext>
              </a:extLst>
            </p:cNvPr>
            <p:cNvSpPr/>
            <p:nvPr/>
          </p:nvSpPr>
          <p:spPr>
            <a:xfrm>
              <a:off x="768859" y="579121"/>
              <a:ext cx="10654282" cy="5791200"/>
            </a:xfrm>
            <a:prstGeom prst="rect">
              <a:avLst/>
            </a:prstGeom>
            <a:solidFill>
              <a:srgbClr val="FFFFFF"/>
            </a:solidFill>
            <a:ln>
              <a:noFill/>
            </a:ln>
            <a:effectLst>
              <a:outerShdw blurRad="2667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Picture 2" descr="G:\PPT素材库\B素材\简约大气绚丽深紫色渐变背景\C背景图\3a87e52a5b1559cc07cb90ee33d06a12.png">
              <a:extLst>
                <a:ext uri="{FF2B5EF4-FFF2-40B4-BE49-F238E27FC236}">
                  <a16:creationId xmlns:a16="http://schemas.microsoft.com/office/drawing/2014/main" id="{CBB0953D-26F6-AA95-2056-4CDF6AAE9B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V="1">
              <a:off x="9967404" y="4814652"/>
              <a:ext cx="1455737" cy="1555666"/>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Synergistically utilize technically sound portals with frictionless chains. Dramatically customize…">
            <a:extLst>
              <a:ext uri="{FF2B5EF4-FFF2-40B4-BE49-F238E27FC236}">
                <a16:creationId xmlns:a16="http://schemas.microsoft.com/office/drawing/2014/main" id="{D9886097-E5E9-EDB4-9E4E-48DCB531EF89}"/>
              </a:ext>
            </a:extLst>
          </p:cNvPr>
          <p:cNvSpPr txBox="1"/>
          <p:nvPr/>
        </p:nvSpPr>
        <p:spPr>
          <a:xfrm>
            <a:off x="1384593" y="2125207"/>
            <a:ext cx="2388385" cy="276999"/>
          </a:xfrm>
          <a:prstGeom prst="rect">
            <a:avLst/>
          </a:prstGeom>
          <a:ln w="12700">
            <a:miter lim="400000"/>
          </a:ln>
        </p:spPr>
        <p:txBody>
          <a:bodyPr wrap="square" lIns="0" tIns="0" rIns="0" bIns="0">
            <a:spAutoFit/>
          </a:bodyPr>
          <a:lstStyle/>
          <a:p>
            <a:endParaRPr lang="zh-CN" altLang="zh-CN" dirty="0">
              <a:solidFill>
                <a:schemeClr val="tx2"/>
              </a:solidFill>
            </a:endParaRPr>
          </a:p>
        </p:txBody>
      </p:sp>
      <p:sp>
        <p:nvSpPr>
          <p:cNvPr id="18" name="矩形 17">
            <a:extLst>
              <a:ext uri="{FF2B5EF4-FFF2-40B4-BE49-F238E27FC236}">
                <a16:creationId xmlns:a16="http://schemas.microsoft.com/office/drawing/2014/main" id="{D1C5BB15-4A0C-F128-6625-847DDD8B1E8E}"/>
              </a:ext>
            </a:extLst>
          </p:cNvPr>
          <p:cNvSpPr/>
          <p:nvPr/>
        </p:nvSpPr>
        <p:spPr>
          <a:xfrm>
            <a:off x="251520" y="229849"/>
            <a:ext cx="10654282" cy="584775"/>
          </a:xfrm>
          <a:prstGeom prst="rect">
            <a:avLst/>
          </a:prstGeom>
        </p:spPr>
        <p:txBody>
          <a:bodyPr wrap="square">
            <a:spAutoFit/>
          </a:bodyPr>
          <a:lstStyle/>
          <a:p>
            <a:pPr algn="l" defTabSz="514350">
              <a:defRPr/>
            </a:pPr>
            <a:r>
              <a:rPr lang="zh-CN" altLang="en-US" sz="3200" b="1" kern="100" dirty="0">
                <a:latin typeface="微软雅黑" panose="020B0503020204020204" pitchFamily="34" charset="-122"/>
                <a:ea typeface="微软雅黑" panose="020B0503020204020204" pitchFamily="34" charset="-122"/>
                <a:cs typeface="微软雅黑" panose="020B0503020204020204" pitchFamily="34" charset="-122"/>
                <a:sym typeface="+mn-ea"/>
              </a:rPr>
              <a:t>结果实例</a:t>
            </a:r>
            <a:endParaRPr lang="en-US" altLang="zh-CN" sz="1600" b="1" kern="1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1" name="图片 20">
            <a:extLst>
              <a:ext uri="{FF2B5EF4-FFF2-40B4-BE49-F238E27FC236}">
                <a16:creationId xmlns:a16="http://schemas.microsoft.com/office/drawing/2014/main" id="{73C3ACB1-CC5B-789E-2311-04A9474C86A0}"/>
              </a:ext>
            </a:extLst>
          </p:cNvPr>
          <p:cNvPicPr>
            <a:picLocks noChangeAspect="1"/>
          </p:cNvPicPr>
          <p:nvPr/>
        </p:nvPicPr>
        <p:blipFill>
          <a:blip r:embed="rId3"/>
          <a:stretch>
            <a:fillRect/>
          </a:stretch>
        </p:blipFill>
        <p:spPr>
          <a:xfrm>
            <a:off x="395536" y="1058732"/>
            <a:ext cx="1957616" cy="5458078"/>
          </a:xfrm>
          <a:prstGeom prst="rect">
            <a:avLst/>
          </a:prstGeom>
        </p:spPr>
      </p:pic>
      <p:pic>
        <p:nvPicPr>
          <p:cNvPr id="22" name="图片 21">
            <a:extLst>
              <a:ext uri="{FF2B5EF4-FFF2-40B4-BE49-F238E27FC236}">
                <a16:creationId xmlns:a16="http://schemas.microsoft.com/office/drawing/2014/main" id="{A77E754C-FD90-DAD1-2B6B-2199FC7A3A72}"/>
              </a:ext>
            </a:extLst>
          </p:cNvPr>
          <p:cNvPicPr>
            <a:picLocks noChangeAspect="1"/>
          </p:cNvPicPr>
          <p:nvPr/>
        </p:nvPicPr>
        <p:blipFill>
          <a:blip r:embed="rId4"/>
          <a:stretch>
            <a:fillRect/>
          </a:stretch>
        </p:blipFill>
        <p:spPr>
          <a:xfrm>
            <a:off x="2411760" y="1058730"/>
            <a:ext cx="2303744" cy="5250589"/>
          </a:xfrm>
          <a:prstGeom prst="rect">
            <a:avLst/>
          </a:prstGeom>
        </p:spPr>
      </p:pic>
      <p:pic>
        <p:nvPicPr>
          <p:cNvPr id="23" name="图片 22">
            <a:extLst>
              <a:ext uri="{FF2B5EF4-FFF2-40B4-BE49-F238E27FC236}">
                <a16:creationId xmlns:a16="http://schemas.microsoft.com/office/drawing/2014/main" id="{43CC0D20-62DE-6B15-2EF7-2D9BC7FD65E0}"/>
              </a:ext>
            </a:extLst>
          </p:cNvPr>
          <p:cNvPicPr>
            <a:picLocks noChangeAspect="1"/>
          </p:cNvPicPr>
          <p:nvPr/>
        </p:nvPicPr>
        <p:blipFill>
          <a:blip r:embed="rId5"/>
          <a:stretch>
            <a:fillRect/>
          </a:stretch>
        </p:blipFill>
        <p:spPr>
          <a:xfrm>
            <a:off x="4669258" y="927540"/>
            <a:ext cx="4223221" cy="3097449"/>
          </a:xfrm>
          <a:prstGeom prst="rect">
            <a:avLst/>
          </a:prstGeom>
        </p:spPr>
      </p:pic>
      <p:pic>
        <p:nvPicPr>
          <p:cNvPr id="24" name="图片 23">
            <a:extLst>
              <a:ext uri="{FF2B5EF4-FFF2-40B4-BE49-F238E27FC236}">
                <a16:creationId xmlns:a16="http://schemas.microsoft.com/office/drawing/2014/main" id="{07FE3365-7E88-0B42-BF79-79D20F05A5D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20272" y="3933056"/>
            <a:ext cx="1712612" cy="1316300"/>
          </a:xfrm>
          <a:prstGeom prst="rect">
            <a:avLst/>
          </a:prstGeom>
          <a:noFill/>
          <a:ln>
            <a:noFill/>
          </a:ln>
        </p:spPr>
      </p:pic>
      <p:pic>
        <p:nvPicPr>
          <p:cNvPr id="25" name="图片 24">
            <a:extLst>
              <a:ext uri="{FF2B5EF4-FFF2-40B4-BE49-F238E27FC236}">
                <a16:creationId xmlns:a16="http://schemas.microsoft.com/office/drawing/2014/main" id="{870C5C16-A5FC-DFFC-6105-006D3C580283}"/>
              </a:ext>
            </a:extLst>
          </p:cNvPr>
          <p:cNvPicPr>
            <a:picLocks noChangeAspect="1"/>
          </p:cNvPicPr>
          <p:nvPr/>
        </p:nvPicPr>
        <p:blipFill>
          <a:blip r:embed="rId7"/>
          <a:stretch>
            <a:fillRect/>
          </a:stretch>
        </p:blipFill>
        <p:spPr>
          <a:xfrm>
            <a:off x="4644008" y="4094445"/>
            <a:ext cx="2272883" cy="2271459"/>
          </a:xfrm>
          <a:prstGeom prst="rect">
            <a:avLst/>
          </a:prstGeom>
        </p:spPr>
      </p:pic>
    </p:spTree>
    <p:extLst>
      <p:ext uri="{BB962C8B-B14F-4D97-AF65-F5344CB8AC3E}">
        <p14:creationId xmlns:p14="http://schemas.microsoft.com/office/powerpoint/2010/main" val="336906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75BA770-0350-B5AF-6B94-BE83BDFB2EA1}"/>
              </a:ext>
            </a:extLst>
          </p:cNvPr>
          <p:cNvPicPr>
            <a:picLocks noChangeAspect="1"/>
          </p:cNvPicPr>
          <p:nvPr/>
        </p:nvPicPr>
        <p:blipFill>
          <a:blip r:embed="rId2"/>
          <a:stretch>
            <a:fillRect/>
          </a:stretch>
        </p:blipFill>
        <p:spPr>
          <a:xfrm>
            <a:off x="251520" y="332656"/>
            <a:ext cx="8496944" cy="6336704"/>
          </a:xfrm>
          <a:prstGeom prst="rect">
            <a:avLst/>
          </a:prstGeom>
        </p:spPr>
      </p:pic>
    </p:spTree>
    <p:extLst>
      <p:ext uri="{BB962C8B-B14F-4D97-AF65-F5344CB8AC3E}">
        <p14:creationId xmlns:p14="http://schemas.microsoft.com/office/powerpoint/2010/main" val="4166989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4E04B2F-D759-76F0-EEBD-8D3B53793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16632"/>
            <a:ext cx="8532440" cy="6396829"/>
          </a:xfrm>
          <a:prstGeom prst="rect">
            <a:avLst/>
          </a:prstGeom>
        </p:spPr>
      </p:pic>
    </p:spTree>
    <p:extLst>
      <p:ext uri="{BB962C8B-B14F-4D97-AF65-F5344CB8AC3E}">
        <p14:creationId xmlns:p14="http://schemas.microsoft.com/office/powerpoint/2010/main" val="286147987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3843</TotalTime>
  <Words>2194</Words>
  <Application>Microsoft Office PowerPoint</Application>
  <PresentationFormat>全屏显示(4:3)</PresentationFormat>
  <Paragraphs>164</Paragraphs>
  <Slides>17</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PingFang SC</vt:lpstr>
      <vt:lpstr>等线</vt:lpstr>
      <vt:lpstr>宋体</vt:lpstr>
      <vt:lpstr>微软雅黑</vt:lpstr>
      <vt:lpstr>Arial</vt:lpstr>
      <vt:lpstr>Blackadder ITC</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实验六    频谱特性测量</dc:title>
  <dc:creator>user</dc:creator>
  <cp:lastModifiedBy>123938390@qq.com</cp:lastModifiedBy>
  <cp:revision>77</cp:revision>
  <dcterms:created xsi:type="dcterms:W3CDTF">2020-06-10T05:57:08Z</dcterms:created>
  <dcterms:modified xsi:type="dcterms:W3CDTF">2025-12-05T11:22:07Z</dcterms:modified>
</cp:coreProperties>
</file>